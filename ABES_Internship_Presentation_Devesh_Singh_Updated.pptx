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6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Industry SLA (ms)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Sheet1!$A$2:$A$6</c:f>
              <c:strCache>
                <c:ptCount val="5"/>
                <c:pt idx="0">
                  <c:v>Search</c:v>
                </c:pt>
                <c:pt idx="1">
                  <c:v>Cart Sync</c:v>
                </c:pt>
                <c:pt idx="2">
                  <c:v>Auth Guard</c:v>
                </c:pt>
                <c:pt idx="3">
                  <c:v>Checkout</c:v>
                </c:pt>
                <c:pt idx="4">
                  <c:v>Analytics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120</c:v>
                </c:pt>
                <c:pt idx="2">
                  <c:v>80</c:v>
                </c:pt>
                <c:pt idx="3">
                  <c:v>250</c:v>
                </c:pt>
                <c:pt idx="4">
                  <c:v>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Platform (ms)</c:v>
                </c:pt>
              </c:strCache>
            </c:strRef>
          </c:tx>
          <c:spPr>
            <a:solidFill>
              <a:srgbClr val="10955D"/>
            </a:solidFill>
          </c:spPr>
          <c:cat>
            <c:strRef>
              <c:f>Sheet1!$A$2:$A$6</c:f>
              <c:strCache>
                <c:ptCount val="5"/>
                <c:pt idx="0">
                  <c:v>Search</c:v>
                </c:pt>
                <c:pt idx="1">
                  <c:v>Cart Sync</c:v>
                </c:pt>
                <c:pt idx="2">
                  <c:v>Auth Guard</c:v>
                </c:pt>
                <c:pt idx="3">
                  <c:v>Checkout</c:v>
                </c:pt>
                <c:pt idx="4">
                  <c:v>Analytics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45</c:v>
                </c:pt>
                <c:pt idx="1">
                  <c:v>28</c:v>
                </c:pt>
                <c:pt idx="2">
                  <c:v>14</c:v>
                </c:pt>
                <c:pt idx="3">
                  <c:v>82</c:v>
                </c:pt>
                <c:pt idx="4">
                  <c:v>95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FE3F-21E9-3895-1B8B-1747F6E1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C308F-25D4-0368-C53C-8E7F10994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70CEA-1C75-022B-AF99-4E2F5327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7A1B5-CBA1-6470-3099-4F1BF6C36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6B397-E262-6F8F-DBD4-EB1DCDAF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4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44D0-4E3F-AB8E-7631-DD5E23218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4FB7E-D3FB-EE5E-D6CE-664250F98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901A9-3A0D-AF07-7054-93CF353EC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04444-EDE0-7DC3-4CBC-2BC141ABC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52662-FFA6-5933-47B2-08E69B40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8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DB5F2-2673-8585-F997-80093264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3CE53-4BBC-7C10-B661-C607F6E66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5B39E-4268-87FB-FA85-81A99FE6A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071AF-6600-FB4F-2B8E-FF3B656EE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9FB2E-066E-74EB-21CB-6868788E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D541-0BB6-3FCE-399A-BD62B6C1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32702-160F-DCD4-10D2-7F3BE7A49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AB85A-D98D-569A-DF49-31E61A86A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8164D-939F-8444-0411-359047F5E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29863-D022-187D-6E68-D48FEE8DE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0056-462F-59B4-C563-17F0EBC01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21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3A8A-FB99-37AE-BF64-BCED97A70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55C36-0A49-60ED-3F5F-839530437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DE600-C6A2-1751-E085-7C1EFCDBF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BA0FA6-53FB-EF78-C0F6-889DF87BD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32C96D-AA63-1879-8863-1D160F98D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3A5A7F-352D-6987-EE32-9E710B1F5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3E5F78-6940-B127-A450-D2C1C8EB8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3F830E-F316-9CCC-B03E-423E940E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79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663A-A913-AD99-714E-369CD44B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103AF-1C95-E418-013C-CF664BCAE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9215B-EDD4-313F-2762-BDAD5A87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0D9FE-B84E-C473-AD3D-15FD5C36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75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A93DD4-63F7-9270-F3C3-7AC6807B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9F9B20-4218-04A0-7DE3-002D5AD8B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6CC41-2827-F13B-BBD6-072DA6DCE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1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A8F0D-9F0A-880A-0340-7C25680D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A632A-CE88-041F-4BA0-D350B5D0A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D7D86-FAEF-BC89-B79A-DC663A228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3D9DF-33D0-40AC-3EDA-BF804354D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8FFB8-3216-C426-900E-6C2EC70C9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438AB-F743-7819-9B9D-1618BA4A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29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6A31-3B13-4A48-AF98-CF5A6626C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22A3C4-A3EE-4931-E994-334100AB3B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6BA15-2909-5A12-7894-65652D51A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53BA0-F22F-1820-B414-FC609D47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3CB21-CC5A-4F88-1357-F6FF89113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91E1A-3505-C098-7C21-BBC71358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9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51F11-C2DB-60E2-CCBE-168CB025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0F25A-21BC-E100-C232-4B3CCDC65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83181-0365-B685-1458-7211BD43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862AC-C935-3C64-6924-373278DC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8F711-5E36-98CB-0F70-2881F5CD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7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93538E-4FE6-FBA8-4202-C263B052D3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3B3F4-CD55-0CF7-488B-7F46A722D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03479-14F3-4AB6-B55A-2A506A33C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B4BE7-A15B-72F3-0028-947295A28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65CA3-053A-ABC7-4F50-10444E07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195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226BC-E32C-73E8-5CF4-D98953A40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83E07-199F-6BAE-10AF-866897775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05D8-1AF9-4D82-BE7E-D36CB2387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FF05B-17A1-9333-4418-5AD2B9E839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82FF9-B837-883E-E3E6-73CF50DB3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67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2192" y="1689280"/>
            <a:ext cx="9087569" cy="1047631"/>
          </a:xfrm>
        </p:spPr>
        <p:txBody>
          <a:bodyPr wrap="square">
            <a:normAutofit/>
          </a:bodyPr>
          <a:lstStyle/>
          <a:p>
            <a:pPr algn="ctr">
              <a:defRPr sz="2600" b="1">
                <a:solidFill>
                  <a:srgbClr val="14233C"/>
                </a:solidFill>
                <a:latin typeface="Calibri"/>
              </a:defRPr>
            </a:pPr>
            <a:r>
              <a:t>Full-Stack E-Commerce Web Application &amp; Transaction Platform</a:t>
            </a:r>
          </a:p>
          <a:p>
            <a:pPr algn="ctr">
              <a:spcBef>
                <a:spcPts val="400"/>
              </a:spcBef>
              <a:defRPr sz="1500" b="0">
                <a:solidFill>
                  <a:srgbClr val="2563EB"/>
                </a:solidFill>
                <a:latin typeface="Calibri"/>
              </a:defRPr>
            </a:pPr>
            <a:r>
              <a:t>Internship Project Presentation | Full Stack Web Development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412192" y="181094"/>
            <a:ext cx="10367750" cy="10781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 b="1" dirty="0">
                <a:solidFill>
                  <a:srgbClr val="C00000"/>
                </a:solidFill>
              </a:rPr>
              <a:t>ABES Engineering College, Ghaziabad</a:t>
            </a:r>
          </a:p>
          <a:p>
            <a:pPr>
              <a:defRPr sz="3200" b="1">
                <a:solidFill>
                  <a:srgbClr val="C00000"/>
                </a:solidFill>
                <a:latin typeface="Calibri"/>
              </a:defRPr>
            </a:pPr>
            <a:r>
              <a:t>Department Of Information Technology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262"/>
            <a:ext cx="1501254" cy="188775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1248" y="3977639"/>
            <a:ext cx="4983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3977639"/>
            <a:ext cx="49834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87367"/>
            <a:ext cx="461772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00000"/>
                </a:solidFill>
                <a:latin typeface="Calibri"/>
              </a:defRPr>
            </a:pPr>
            <a:r>
              <a:t>Student Information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• Student Name: </a:t>
            </a:r>
            <a:r>
              <a:rPr sz="1200">
                <a:solidFill>
                  <a:srgbClr val="1E293B"/>
                </a:solidFill>
                <a:latin typeface="Calibri"/>
              </a:rPr>
              <a:t>Devesh Singh</a:t>
            </a:r>
          </a:p>
          <a:p>
            <a:pPr>
              <a:spcAft>
                <a:spcPts val="400"/>
              </a:spcAft>
            </a:pPr>
            <a:r>
              <a:t>• Roll Number: 2300320130088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• Department: </a:t>
            </a:r>
            <a:r>
              <a:rPr sz="1200">
                <a:solidFill>
                  <a:srgbClr val="1E293B"/>
                </a:solidFill>
                <a:latin typeface="Calibri"/>
              </a:rPr>
              <a:t>Department of Information Technology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• Institution: </a:t>
            </a:r>
            <a:r>
              <a:rPr sz="1200">
                <a:solidFill>
                  <a:srgbClr val="1E293B"/>
                </a:solidFill>
                <a:latin typeface="Calibri"/>
              </a:rPr>
              <a:t>ABES Engineering College, Ghaziabad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977639"/>
            <a:ext cx="4983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3977639"/>
            <a:ext cx="4983480" cy="4572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4087367"/>
            <a:ext cx="461772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4233C"/>
                </a:solidFill>
                <a:latin typeface="Calibri"/>
              </a:defRPr>
            </a:pPr>
            <a:r>
              <a:t>Internship Details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• Company Name: </a:t>
            </a:r>
            <a:r>
              <a:rPr sz="1200">
                <a:solidFill>
                  <a:srgbClr val="1E293B"/>
                </a:solidFill>
                <a:latin typeface="Calibri"/>
              </a:rPr>
              <a:t>Thiranex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• Domain Track: </a:t>
            </a:r>
            <a:r>
              <a:rPr sz="1200">
                <a:solidFill>
                  <a:srgbClr val="1E293B"/>
                </a:solidFill>
                <a:latin typeface="Calibri"/>
              </a:rPr>
              <a:t>Full Stack Web Development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• Internship Role: </a:t>
            </a:r>
            <a:r>
              <a:rPr sz="1200">
                <a:solidFill>
                  <a:srgbClr val="1E293B"/>
                </a:solidFill>
                <a:latin typeface="Calibri"/>
              </a:rPr>
              <a:t>Intern - Full Stack Development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4233C"/>
                </a:solidFill>
                <a:latin typeface="Calibri"/>
              </a:rPr>
              <a:t>• Duration &amp; Tenure: </a:t>
            </a:r>
            <a:r>
              <a:rPr sz="1200">
                <a:solidFill>
                  <a:srgbClr val="1E293B"/>
                </a:solidFill>
                <a:latin typeface="Calibri"/>
              </a:rPr>
              <a:t>17 Aug 2026 to 16 Sept 2026 (4 Weeks)</a:t>
            </a:r>
          </a:p>
        </p:txBody>
      </p:sp>
    </p:spTree>
    <p:extLst>
      <p:ext uri="{BB962C8B-B14F-4D97-AF65-F5344CB8AC3E}">
        <p14:creationId xmlns:p14="http://schemas.microsoft.com/office/powerpoint/2010/main" val="2905397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3D4F4-6AB1-B55B-DE1A-D8D6086BD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C00000"/>
                </a:solidFill>
                <a:latin typeface="Calibri"/>
              </a:defRPr>
            </a:pPr>
            <a:r>
              <a:t>Problem Statement</a:t>
            </a:r>
          </a:p>
          <a:p>
            <a:pPr>
              <a:spcBef>
                <a:spcPts val="200"/>
              </a:spcBef>
              <a:defRPr sz="1150" b="0">
                <a:solidFill>
                  <a:srgbClr val="64748B"/>
                </a:solidFill>
                <a:latin typeface="Calibri"/>
              </a:defRPr>
            </a:pPr>
            <a:r>
              <a:t>Core Industry Challenges, Operational Gaps, and Project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329184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1783080"/>
            <a:ext cx="3291840" cy="4572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920240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4233C"/>
                </a:solidFill>
                <a:latin typeface="Calibri"/>
              </a:defRPr>
            </a:pPr>
            <a:r>
              <a:t>1. Core Challenges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Cart Desynchronization: </a:t>
            </a:r>
            <a:r>
              <a:rPr sz="1100">
                <a:solidFill>
                  <a:srgbClr val="1E293B"/>
                </a:solidFill>
                <a:latin typeface="Calibri"/>
              </a:rPr>
              <a:t>Shopping cart states lost across reloads and multi-tab sessions.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Insecure Route Exposure: </a:t>
            </a:r>
            <a:r>
              <a:rPr sz="1100">
                <a:solidFill>
                  <a:srgbClr val="1E293B"/>
                </a:solidFill>
                <a:latin typeface="Calibri"/>
              </a:rPr>
              <a:t>Administrative product and order APIs vulnerable to unverified access.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Order Status Opacity: </a:t>
            </a:r>
            <a:r>
              <a:rPr sz="1100">
                <a:solidFill>
                  <a:srgbClr val="1E293B"/>
                </a:solidFill>
                <a:latin typeface="Calibri"/>
              </a:rPr>
              <a:t>Absence of real-time, multi-stage order lifecycle tracking.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Catalog Latency: </a:t>
            </a:r>
            <a:r>
              <a:rPr sz="1100">
                <a:solidFill>
                  <a:srgbClr val="1E293B"/>
                </a:solidFill>
                <a:latin typeface="Calibri"/>
              </a:rPr>
              <a:t>Sluggish search and filtering on unindexed database schemas.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1783080"/>
            <a:ext cx="329184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3984" y="1783080"/>
            <a:ext cx="329184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6864" y="1920240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C00000"/>
                </a:solidFill>
                <a:latin typeface="Calibri"/>
              </a:defRPr>
            </a:pPr>
            <a:r>
              <a:t>2. Operational Impact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Customer Abandonment: </a:t>
            </a:r>
            <a:r>
              <a:rPr sz="1100">
                <a:solidFill>
                  <a:srgbClr val="1E293B"/>
                </a:solidFill>
                <a:latin typeface="Calibri"/>
              </a:rPr>
              <a:t>Friction during checkout and cart loss lead to high bounce rates.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Unauthorized Mutation: </a:t>
            </a:r>
            <a:r>
              <a:rPr sz="1100">
                <a:solidFill>
                  <a:srgbClr val="1E293B"/>
                </a:solidFill>
                <a:latin typeface="Calibri"/>
              </a:rPr>
              <a:t>Lack of role-based protection risks unauthorized data changes.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Fulfillment Gaps: </a:t>
            </a:r>
            <a:r>
              <a:rPr sz="1100">
                <a:solidFill>
                  <a:srgbClr val="1E293B"/>
                </a:solidFill>
                <a:latin typeface="Calibri"/>
              </a:rPr>
              <a:t>Customers and admins lack transparent status progression.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Server Inefficiency: </a:t>
            </a:r>
            <a:r>
              <a:rPr sz="1100">
                <a:solidFill>
                  <a:srgbClr val="1E293B"/>
                </a:solidFill>
                <a:latin typeface="Calibri"/>
              </a:rPr>
              <a:t>Heavy full-page reloads degrade user experience on mobile devices.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83080"/>
            <a:ext cx="329184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783080"/>
            <a:ext cx="3291840" cy="45720"/>
          </a:xfrm>
          <a:prstGeom prst="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0955D"/>
                </a:solidFill>
                <a:latin typeface="Calibri"/>
              </a:defRPr>
            </a:pPr>
            <a:r>
              <a:t>3. Engineering Objective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Full-Stack Architecture: </a:t>
            </a:r>
            <a:r>
              <a:rPr sz="1100">
                <a:solidFill>
                  <a:srgbClr val="1E293B"/>
                </a:solidFill>
                <a:latin typeface="Calibri"/>
              </a:rPr>
              <a:t>Engineer a scalable, decoupled MERN web store for modern commerce.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Role-Based Security: </a:t>
            </a:r>
            <a:r>
              <a:rPr sz="1100">
                <a:solidFill>
                  <a:srgbClr val="1E293B"/>
                </a:solidFill>
                <a:latin typeface="Calibri"/>
              </a:rPr>
              <a:t>Implement strict JWT authentication and role-based route middleware.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State Persistence: </a:t>
            </a:r>
            <a:r>
              <a:rPr sz="1100">
                <a:solidFill>
                  <a:srgbClr val="1E293B"/>
                </a:solidFill>
                <a:latin typeface="Calibri"/>
              </a:rPr>
              <a:t>Ensure persistent cart hydration via React Context API.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High-Performance SLA: </a:t>
            </a:r>
            <a:r>
              <a:rPr sz="1100">
                <a:solidFill>
                  <a:srgbClr val="1E293B"/>
                </a:solidFill>
                <a:latin typeface="Calibri"/>
              </a:rPr>
              <a:t>Optimize Mongoose schemas to deliver sub-100ms API response times.</a:t>
            </a:r>
          </a:p>
        </p:txBody>
      </p:sp>
    </p:spTree>
    <p:extLst>
      <p:ext uri="{BB962C8B-B14F-4D97-AF65-F5344CB8AC3E}">
        <p14:creationId xmlns:p14="http://schemas.microsoft.com/office/powerpoint/2010/main" val="2389413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9BA05-7908-7E9D-664F-C6BCFBFBF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C00000"/>
                </a:solidFill>
                <a:latin typeface="Calibri"/>
              </a:defRPr>
            </a:pPr>
            <a:r>
              <a:t>Background / Existing Approach</a:t>
            </a:r>
          </a:p>
          <a:p>
            <a:pPr>
              <a:spcBef>
                <a:spcPts val="200"/>
              </a:spcBef>
              <a:defRPr sz="1150" b="0">
                <a:solidFill>
                  <a:srgbClr val="64748B"/>
                </a:solidFill>
                <a:latin typeface="Calibri"/>
              </a:defRPr>
            </a:pPr>
            <a:r>
              <a:t>Traditional Architecture Deficiencies vs. Modern Engineering Requirements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5074920" cy="3337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1783080"/>
            <a:ext cx="507492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7091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 b="1">
                <a:solidFill>
                  <a:srgbClr val="C00000"/>
                </a:solidFill>
                <a:latin typeface="Calibri"/>
              </a:defRPr>
            </a:pPr>
            <a:r>
              <a:t>Traditional / Existing Web Store Deficiencies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Monolithic Architecture: </a:t>
            </a:r>
            <a:r>
              <a:rPr sz="1100">
                <a:solidFill>
                  <a:srgbClr val="1E293B"/>
                </a:solidFill>
                <a:latin typeface="Calibri"/>
              </a:rPr>
              <a:t>Tight coupling forces full-page reloads for catalog and cart changes.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Volatile Session State: </a:t>
            </a:r>
            <a:r>
              <a:rPr sz="1100">
                <a:solidFill>
                  <a:srgbClr val="1E293B"/>
                </a:solidFill>
                <a:latin typeface="Calibri"/>
              </a:rPr>
              <a:t>Cart items frequently vanish upon session timeout or browser refresh.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Flat Authorization: </a:t>
            </a:r>
            <a:r>
              <a:rPr sz="1100">
                <a:solidFill>
                  <a:srgbClr val="1E293B"/>
                </a:solidFill>
                <a:latin typeface="Calibri"/>
              </a:rPr>
              <a:t>No strict role separation between public shoppers and store administrators.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Direct Table Queries: </a:t>
            </a:r>
            <a:r>
              <a:rPr sz="1100">
                <a:solidFill>
                  <a:srgbClr val="1E293B"/>
                </a:solidFill>
                <a:latin typeface="Calibri"/>
              </a:rPr>
              <a:t>Direct scans across unindexed schemas cause high latency bottlenecks.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Manual Local Hosting: </a:t>
            </a:r>
            <a:r>
              <a:rPr sz="1100">
                <a:solidFill>
                  <a:srgbClr val="1E293B"/>
                </a:solidFill>
                <a:latin typeface="Calibri"/>
              </a:rPr>
              <a:t>Fragile manual deployments without modern automated cloud CI/CD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074920" cy="3337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1783080"/>
            <a:ext cx="5074920" cy="45720"/>
          </a:xfrm>
          <a:prstGeom prst="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920240"/>
            <a:ext cx="47091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 b="1">
                <a:solidFill>
                  <a:srgbClr val="10955D"/>
                </a:solidFill>
                <a:latin typeface="Calibri"/>
              </a:defRPr>
            </a:pPr>
            <a:r>
              <a:t>Modern MERN Architecture Requirements (Our Solution)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Decoupled SPA Frontend: </a:t>
            </a:r>
            <a:r>
              <a:rPr sz="1100">
                <a:solidFill>
                  <a:srgbClr val="1E293B"/>
                </a:solidFill>
                <a:latin typeface="Calibri"/>
              </a:rPr>
              <a:t>React 18 &amp; Vite provide instant, reactive interactions with zero page reloads.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Persistent Context Hydration: </a:t>
            </a:r>
            <a:r>
              <a:rPr sz="1100">
                <a:solidFill>
                  <a:srgbClr val="1E293B"/>
                </a:solidFill>
                <a:latin typeface="Calibri"/>
              </a:rPr>
              <a:t>CartContext + LocalStorage preserves shopping state across all visits.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Role-Based Security: </a:t>
            </a:r>
            <a:r>
              <a:rPr sz="1100">
                <a:solidFill>
                  <a:srgbClr val="1E293B"/>
                </a:solidFill>
                <a:latin typeface="Calibri"/>
              </a:rPr>
              <a:t>Strict JWT authentication and middleware isolate admin routes completely.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Optimized Mongoose Schemas: </a:t>
            </a:r>
            <a:r>
              <a:rPr sz="1100">
                <a:solidFill>
                  <a:srgbClr val="1E293B"/>
                </a:solidFill>
                <a:latin typeface="Calibri"/>
              </a:rPr>
              <a:t>Indexed MongoDB models and embedded sub-documents ensure fast queries.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• Production Cloud Delivery: </a:t>
            </a:r>
            <a:r>
              <a:rPr sz="1100">
                <a:solidFill>
                  <a:srgbClr val="1E293B"/>
                </a:solidFill>
                <a:latin typeface="Calibri"/>
              </a:rPr>
              <a:t>Automated cloud deployment with environment configuration and monitoring.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303520"/>
            <a:ext cx="10497312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349240"/>
            <a:ext cx="101681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Architectural Paradigm Shift: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Transitioning from rigid server-rendered monoliths to an API-first, role-protected MERN platform delivering high-speed interactivity, persistent client state, and scalable cloud deployment.</a:t>
            </a:r>
          </a:p>
        </p:txBody>
      </p:sp>
    </p:spTree>
    <p:extLst>
      <p:ext uri="{BB962C8B-B14F-4D97-AF65-F5344CB8AC3E}">
        <p14:creationId xmlns:p14="http://schemas.microsoft.com/office/powerpoint/2010/main" val="3598930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E235E-E4D4-00AB-9C27-84D38759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800" b="1">
                <a:solidFill>
                  <a:srgbClr val="C00000"/>
                </a:solidFill>
                <a:latin typeface="Calibri"/>
              </a:defRPr>
            </a:pPr>
            <a:r>
              <a:t>Proposed Approach</a:t>
            </a:r>
            <a:endParaRPr lang="en-IN" sz="2800" dirty="0"/>
          </a:p>
          <a:p>
            <a:pPr>
              <a:spcBef>
                <a:spcPts val="200"/>
              </a:spcBef>
              <a:defRPr sz="1150" b="0">
                <a:solidFill>
                  <a:srgbClr val="64748B"/>
                </a:solidFill>
                <a:latin typeface="Calibri"/>
              </a:defRPr>
            </a:pPr>
            <a:r>
              <a:t>4-Tier Full-Stack Architecture &amp; Security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242316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1783080"/>
            <a:ext cx="24231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892808"/>
            <a:ext cx="2148840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  <a:latin typeface="Calibri"/>
              </a:defRPr>
            </a:pPr>
            <a:r>
              <a:t>Tier 1: Frontend</a:t>
            </a:r>
          </a:p>
          <a:p>
            <a:pPr>
              <a:spcAft>
                <a:spcPts val="8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React 18 &amp; Vite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UI Framework: </a:t>
            </a:r>
            <a:r>
              <a:rPr sz="1050">
                <a:solidFill>
                  <a:srgbClr val="1E293B"/>
                </a:solidFill>
                <a:latin typeface="Calibri"/>
              </a:rPr>
              <a:t>React 18, Vite, Tailwind CSS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Global State: </a:t>
            </a:r>
            <a:r>
              <a:rPr sz="1050">
                <a:solidFill>
                  <a:srgbClr val="1E293B"/>
                </a:solidFill>
                <a:latin typeface="Calibri"/>
              </a:rPr>
              <a:t>AuthContext &amp; CartContext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Routing: </a:t>
            </a:r>
            <a:r>
              <a:rPr sz="1050">
                <a:solidFill>
                  <a:srgbClr val="1E293B"/>
                </a:solidFill>
                <a:latin typeface="Calibri"/>
              </a:rPr>
              <a:t>React Router client-side SPA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User Experience: </a:t>
            </a:r>
            <a:r>
              <a:rPr sz="1050">
                <a:solidFill>
                  <a:srgbClr val="1E293B"/>
                </a:solidFill>
                <a:latin typeface="Calibri"/>
              </a:rPr>
              <a:t>Real-time search &amp; cart drawer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9584" y="1783080"/>
            <a:ext cx="242316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29584" y="1783080"/>
            <a:ext cx="2423160" cy="4572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6744" y="1892808"/>
            <a:ext cx="2148840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4233C"/>
                </a:solidFill>
                <a:latin typeface="Calibri"/>
              </a:defRPr>
            </a:pPr>
            <a:r>
              <a:t>Tier 2: Backend API</a:t>
            </a:r>
          </a:p>
          <a:p>
            <a:pPr>
              <a:spcAft>
                <a:spcPts val="8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Node.js &amp; Express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API Stack: </a:t>
            </a:r>
            <a:r>
              <a:rPr sz="1050">
                <a:solidFill>
                  <a:srgbClr val="1E293B"/>
                </a:solidFill>
                <a:latin typeface="Calibri"/>
              </a:rPr>
              <a:t>Node.js, Express REST router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Controllers: </a:t>
            </a:r>
            <a:r>
              <a:rPr sz="1050">
                <a:solidFill>
                  <a:srgbClr val="1E293B"/>
                </a:solidFill>
                <a:latin typeface="Calibri"/>
              </a:rPr>
              <a:t>Auth, Products, Orders, Stats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Validation: </a:t>
            </a:r>
            <a:r>
              <a:rPr sz="1050">
                <a:solidFill>
                  <a:srgbClr val="1E293B"/>
                </a:solidFill>
                <a:latin typeface="Calibri"/>
              </a:rPr>
              <a:t>Parameter &amp; payload sanitization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Order Flow: </a:t>
            </a:r>
            <a:r>
              <a:rPr sz="1050">
                <a:solidFill>
                  <a:srgbClr val="1E293B"/>
                </a:solidFill>
                <a:latin typeface="Calibri"/>
              </a:rPr>
              <a:t>Multi-stage lifecycle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242316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242316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92808"/>
            <a:ext cx="2148840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C00000"/>
                </a:solidFill>
                <a:latin typeface="Calibri"/>
              </a:defRPr>
            </a:pPr>
            <a:r>
              <a:t>Tier 3: Security &amp; RBAC</a:t>
            </a:r>
          </a:p>
          <a:p>
            <a:pPr>
              <a:spcAft>
                <a:spcPts val="8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JWT &amp; Middleware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Authentication: </a:t>
            </a:r>
            <a:r>
              <a:rPr sz="1050">
                <a:solidFill>
                  <a:srgbClr val="1E293B"/>
                </a:solidFill>
                <a:latin typeface="Calibri"/>
              </a:rPr>
              <a:t>JWT Bearer token verification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Password Security: </a:t>
            </a:r>
            <a:r>
              <a:rPr sz="1050">
                <a:solidFill>
                  <a:srgbClr val="1E293B"/>
                </a:solidFill>
                <a:latin typeface="Calibri"/>
              </a:rPr>
              <a:t>bcryptjs salted password hashing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Access Control: </a:t>
            </a:r>
            <a:r>
              <a:rPr sz="1050">
                <a:solidFill>
                  <a:srgbClr val="1E293B"/>
                </a:solidFill>
                <a:latin typeface="Calibri"/>
              </a:rPr>
              <a:t>Role claims (Admin vs. Customer)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Route Guards: </a:t>
            </a:r>
            <a:r>
              <a:rPr sz="1050">
                <a:solidFill>
                  <a:srgbClr val="1E293B"/>
                </a:solidFill>
                <a:latin typeface="Calibri"/>
              </a:rPr>
              <a:t>Protected middleware on admin routes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783080"/>
            <a:ext cx="242316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06256" y="1783080"/>
            <a:ext cx="2423160" cy="45720"/>
          </a:xfrm>
          <a:prstGeom prst="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1892808"/>
            <a:ext cx="2148840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955D"/>
                </a:solidFill>
                <a:latin typeface="Calibri"/>
              </a:defRPr>
            </a:pPr>
            <a:r>
              <a:t>Tier 4: Database &amp; Cloud</a:t>
            </a:r>
          </a:p>
          <a:p>
            <a:pPr>
              <a:spcAft>
                <a:spcPts val="8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MongoDB &amp; Deployment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Database ODM: </a:t>
            </a:r>
            <a:r>
              <a:rPr sz="1050">
                <a:solidFill>
                  <a:srgbClr val="1E293B"/>
                </a:solidFill>
                <a:latin typeface="Calibri"/>
              </a:rPr>
              <a:t>MongoDB with Mongoose schemas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Data Models: </a:t>
            </a:r>
            <a:r>
              <a:rPr sz="1050">
                <a:solidFill>
                  <a:srgbClr val="1E293B"/>
                </a:solidFill>
                <a:latin typeface="Calibri"/>
              </a:rPr>
              <a:t>Users, Products, Orders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Order Timeline: </a:t>
            </a:r>
            <a:r>
              <a:rPr sz="1050">
                <a:solidFill>
                  <a:srgbClr val="1E293B"/>
                </a:solidFill>
                <a:latin typeface="Calibri"/>
              </a:rPr>
              <a:t>Embedded timeline tracking schema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Cloud Hosting: </a:t>
            </a:r>
            <a:r>
              <a:rPr sz="1050">
                <a:solidFill>
                  <a:srgbClr val="1E293B"/>
                </a:solidFill>
                <a:latin typeface="Calibri"/>
              </a:rPr>
              <a:t>Automated cloud deployment &amp; config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5166360"/>
            <a:ext cx="10497312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80"/>
            <a:ext cx="101681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Core Architectural Principles: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• Decoupled MERN Architecture: Client and server communicate asynchronously via standardized JSON REST APIs.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• Role-Based Access Control: Strict authorization barrier protecting sensitive inventory and transaction mutations.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• Scalable Data Persistence: Normalized Mongoose schemas with indexed querying for sub-100ms response times.</a:t>
            </a:r>
          </a:p>
        </p:txBody>
      </p:sp>
    </p:spTree>
    <p:extLst>
      <p:ext uri="{BB962C8B-B14F-4D97-AF65-F5344CB8AC3E}">
        <p14:creationId xmlns:p14="http://schemas.microsoft.com/office/powerpoint/2010/main" val="79773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3EF09-388A-2D26-5D86-C905C3F1C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 b="1">
                <a:solidFill>
                  <a:srgbClr val="C00000"/>
                </a:solidFill>
                <a:latin typeface="Calibri"/>
              </a:defRPr>
            </a:pPr>
            <a:r>
              <a:t>Methodology and Workflow</a:t>
            </a:r>
          </a:p>
          <a:p>
            <a:pPr>
              <a:spcBef>
                <a:spcPts val="200"/>
              </a:spcBef>
              <a:defRPr sz="1150" b="0">
                <a:solidFill>
                  <a:srgbClr val="64748B"/>
                </a:solidFill>
                <a:latin typeface="Calibri"/>
              </a:defRPr>
            </a:pPr>
            <a:r>
              <a:t>4-Week Agile Sprint Progression from Schema Modeling to Certified Delivery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196596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1783080"/>
            <a:ext cx="19659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892808"/>
            <a:ext cx="1746504" cy="4123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  <a:latin typeface="Calibri"/>
              </a:defRPr>
            </a:pPr>
            <a:r>
              <a:t>Week 1</a:t>
            </a:r>
          </a:p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Database Modeling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Core Focus: </a:t>
            </a:r>
            <a:r>
              <a:rPr sz="1000">
                <a:solidFill>
                  <a:srgbClr val="1E293B"/>
                </a:solidFill>
                <a:latin typeface="Calibri"/>
              </a:rPr>
              <a:t>Normalized MongoDB schema design with Mongoose.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Schemas Created: </a:t>
            </a:r>
            <a:r>
              <a:rPr sz="1000">
                <a:solidFill>
                  <a:srgbClr val="1E293B"/>
                </a:solidFill>
                <a:latin typeface="Calibri"/>
              </a:rPr>
              <a:t>Users, Products (with reviews), and Orders.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Key Feature: </a:t>
            </a:r>
            <a:r>
              <a:rPr sz="1000">
                <a:solidFill>
                  <a:srgbClr val="1E293B"/>
                </a:solidFill>
                <a:latin typeface="Calibri"/>
              </a:rPr>
              <a:t>Embedded timelineStepSchema for order lifecycles.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Milestone Outcome: </a:t>
            </a:r>
            <a:r>
              <a:rPr sz="1000">
                <a:solidFill>
                  <a:srgbClr val="1E293B"/>
                </a:solidFill>
                <a:latin typeface="Calibri"/>
              </a:rPr>
              <a:t>Validated database structure with indexed fields.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783080"/>
            <a:ext cx="196596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71800" y="1783080"/>
            <a:ext cx="1965960" cy="4572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1528" y="1892808"/>
            <a:ext cx="1746504" cy="4123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4233C"/>
                </a:solidFill>
                <a:latin typeface="Calibri"/>
              </a:defRPr>
            </a:pPr>
            <a:r>
              <a:t>Week 2</a:t>
            </a:r>
          </a:p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REST API Services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Core Focus: </a:t>
            </a:r>
            <a:r>
              <a:rPr sz="1000">
                <a:solidFill>
                  <a:srgbClr val="1E293B"/>
                </a:solidFill>
                <a:latin typeface="Calibri"/>
              </a:rPr>
              <a:t>Express router architecture and controllers.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Endpoints Built: </a:t>
            </a:r>
            <a:r>
              <a:rPr sz="1000">
                <a:solidFill>
                  <a:srgbClr val="1E293B"/>
                </a:solidFill>
                <a:latin typeface="Calibri"/>
              </a:rPr>
              <a:t>Auth, catalog search, order checkout, admin CRUD.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Validation: </a:t>
            </a:r>
            <a:r>
              <a:rPr sz="1000">
                <a:solidFill>
                  <a:srgbClr val="1E293B"/>
                </a:solidFill>
                <a:latin typeface="Calibri"/>
              </a:rPr>
              <a:t>RESTful response status codes and payload sanitization.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Milestone Outcome: </a:t>
            </a:r>
            <a:r>
              <a:rPr sz="1000">
                <a:solidFill>
                  <a:srgbClr val="1E293B"/>
                </a:solidFill>
                <a:latin typeface="Calibri"/>
              </a:rPr>
              <a:t>Tested REST APIs validated with Postman suites.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2352" y="1783080"/>
            <a:ext cx="196596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02352" y="1783080"/>
            <a:ext cx="196596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892808"/>
            <a:ext cx="1746504" cy="4123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C00000"/>
                </a:solidFill>
                <a:latin typeface="Calibri"/>
              </a:defRPr>
            </a:pPr>
            <a:r>
              <a:t>Week 3</a:t>
            </a:r>
          </a:p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Frontend &amp; State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Core Focus: </a:t>
            </a:r>
            <a:r>
              <a:rPr sz="1000">
                <a:solidFill>
                  <a:srgbClr val="1E293B"/>
                </a:solidFill>
                <a:latin typeface="Calibri"/>
              </a:rPr>
              <a:t>Responsive React 18 single page application.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State Providers: </a:t>
            </a:r>
            <a:r>
              <a:rPr sz="1000">
                <a:solidFill>
                  <a:srgbClr val="1E293B"/>
                </a:solidFill>
                <a:latin typeface="Calibri"/>
              </a:rPr>
              <a:t>AuthContext (JWT session) &amp; CartContext.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UI Components: </a:t>
            </a:r>
            <a:r>
              <a:rPr sz="1000">
                <a:solidFill>
                  <a:srgbClr val="1E293B"/>
                </a:solidFill>
                <a:latin typeface="Calibri"/>
              </a:rPr>
              <a:t>Product catalog, cart drawer, checkout portal.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Milestone Outcome: </a:t>
            </a:r>
            <a:r>
              <a:rPr sz="1000">
                <a:solidFill>
                  <a:srgbClr val="1E293B"/>
                </a:solidFill>
                <a:latin typeface="Calibri"/>
              </a:rPr>
              <a:t>Zero-reload client with persistent cart hydration.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32904" y="1783080"/>
            <a:ext cx="196596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32904" y="1783080"/>
            <a:ext cx="1965960" cy="4572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2" y="1892808"/>
            <a:ext cx="1746504" cy="4123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4233C"/>
                </a:solidFill>
                <a:latin typeface="Calibri"/>
              </a:defRPr>
            </a:pPr>
            <a:r>
              <a:t>Week 4</a:t>
            </a:r>
          </a:p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Admin &amp; Tracking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Core Focus: </a:t>
            </a:r>
            <a:r>
              <a:rPr sz="1000">
                <a:solidFill>
                  <a:srgbClr val="1E293B"/>
                </a:solidFill>
                <a:latin typeface="Calibri"/>
              </a:rPr>
              <a:t>Administrative oversight and order fulfillment.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Features: </a:t>
            </a:r>
            <a:r>
              <a:rPr sz="1000">
                <a:solidFill>
                  <a:srgbClr val="1E293B"/>
                </a:solidFill>
                <a:latin typeface="Calibri"/>
              </a:rPr>
              <a:t>Sales metrics, stock controls, and order timelines.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Security Audit: </a:t>
            </a:r>
            <a:r>
              <a:rPr sz="1000">
                <a:solidFill>
                  <a:srgbClr val="1E293B"/>
                </a:solidFill>
                <a:latin typeface="Calibri"/>
              </a:rPr>
              <a:t>Enforced role guards preventing privilege escalation.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Milestone Outcome: </a:t>
            </a:r>
            <a:r>
              <a:rPr sz="1000">
                <a:solidFill>
                  <a:srgbClr val="1E293B"/>
                </a:solidFill>
                <a:latin typeface="Calibri"/>
              </a:rPr>
              <a:t>Multi-role commercial platform with live fulfillment.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63456" y="1783080"/>
            <a:ext cx="196596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456" y="1783080"/>
            <a:ext cx="1965960" cy="45720"/>
          </a:xfrm>
          <a:prstGeom prst="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73184" y="1892808"/>
            <a:ext cx="1746504" cy="4123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955D"/>
                </a:solidFill>
                <a:latin typeface="Calibri"/>
              </a:defRPr>
            </a:pPr>
            <a:r>
              <a:t>Final Phase</a:t>
            </a:r>
          </a:p>
          <a:p>
            <a:pPr>
              <a:spcAft>
                <a:spcPts val="10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Testing &amp; Audit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Core Focus: </a:t>
            </a:r>
            <a:r>
              <a:rPr sz="1000">
                <a:solidFill>
                  <a:srgbClr val="1E293B"/>
                </a:solidFill>
                <a:latin typeface="Calibri"/>
              </a:rPr>
              <a:t>End-to-end integration and cloud deployment.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Verification: </a:t>
            </a:r>
            <a:r>
              <a:rPr sz="1000">
                <a:solidFill>
                  <a:srgbClr val="1E293B"/>
                </a:solidFill>
                <a:latin typeface="Calibri"/>
              </a:rPr>
              <a:t>36/36 automated tests passed, sub-45ms query SLA.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Credential Audit: </a:t>
            </a:r>
            <a:r>
              <a:rPr sz="1000">
                <a:solidFill>
                  <a:srgbClr val="1E293B"/>
                </a:solidFill>
                <a:latin typeface="Calibri"/>
              </a:rPr>
              <a:t>Milestone review under ID: THX-AUG1726-220.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Milestone Outcome: </a:t>
            </a:r>
            <a:r>
              <a:rPr sz="1000">
                <a:solidFill>
                  <a:srgbClr val="1E293B"/>
                </a:solidFill>
                <a:latin typeface="Calibri"/>
              </a:rPr>
              <a:t>Verified production build and CEO-endorsed LOR.</a:t>
            </a:r>
          </a:p>
        </p:txBody>
      </p:sp>
    </p:spTree>
    <p:extLst>
      <p:ext uri="{BB962C8B-B14F-4D97-AF65-F5344CB8AC3E}">
        <p14:creationId xmlns:p14="http://schemas.microsoft.com/office/powerpoint/2010/main" val="3602132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F302B-353E-3B35-7418-BA9D867E0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 b="1">
                <a:solidFill>
                  <a:srgbClr val="C00000"/>
                </a:solidFill>
                <a:latin typeface="Calibri"/>
              </a:defRPr>
            </a:pPr>
            <a:r>
              <a:t>Screenshots / Demonstration</a:t>
            </a:r>
          </a:p>
          <a:p>
            <a:pPr>
              <a:spcBef>
                <a:spcPts val="200"/>
              </a:spcBef>
              <a:defRPr sz="1150" b="0">
                <a:solidFill>
                  <a:srgbClr val="64748B"/>
                </a:solidFill>
                <a:latin typeface="Calibri"/>
              </a:defRPr>
            </a:pPr>
            <a:r>
              <a:t>Live Application Interface &amp; Core Feature Walkthrough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82496"/>
            <a:ext cx="510235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1737360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Calibri"/>
              </a:defRPr>
            </a:pPr>
            <a:r>
              <a:t>A. Product Catalog &amp; Storefront</a:t>
            </a:r>
          </a:p>
        </p:txBody>
      </p:sp>
      <p:pic>
        <p:nvPicPr>
          <p:cNvPr id="5" name="Picture 4" descr="01_catalog_store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011680"/>
            <a:ext cx="2852928" cy="1783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0" y="2048256"/>
            <a:ext cx="20299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4233C"/>
                </a:solidFill>
                <a:latin typeface="Calibri"/>
              </a:rPr>
              <a:t>• Dynamic Filtering: </a:t>
            </a:r>
            <a:r>
              <a:rPr sz="950">
                <a:solidFill>
                  <a:srgbClr val="1E293B"/>
                </a:solidFill>
                <a:latin typeface="Calibri"/>
              </a:rPr>
              <a:t>Instant category, keyword, and price filters.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14233C"/>
                </a:solidFill>
                <a:latin typeface="Calibri"/>
              </a:rPr>
              <a:t>• Responsive UI: </a:t>
            </a:r>
            <a:r>
              <a:rPr sz="950">
                <a:solidFill>
                  <a:srgbClr val="1E293B"/>
                </a:solidFill>
                <a:latin typeface="Calibri"/>
              </a:rPr>
              <a:t>Built with React 18, Vite, and Tailwind CSS.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682496"/>
            <a:ext cx="510235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5936" y="1737360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955D"/>
                </a:solidFill>
                <a:latin typeface="Calibri"/>
              </a:defRPr>
            </a:pPr>
            <a:r>
              <a:t>B. Cart &amp; State Management</a:t>
            </a:r>
          </a:p>
        </p:txBody>
      </p:sp>
      <p:pic>
        <p:nvPicPr>
          <p:cNvPr id="9" name="Picture 8" descr="03_cart_drawer_slide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011680"/>
            <a:ext cx="2852928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235440" y="2048256"/>
            <a:ext cx="20299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4233C"/>
                </a:solidFill>
                <a:latin typeface="Calibri"/>
              </a:rPr>
              <a:t>• Persistent State: </a:t>
            </a:r>
            <a:r>
              <a:rPr sz="950">
                <a:solidFill>
                  <a:srgbClr val="1E293B"/>
                </a:solidFill>
                <a:latin typeface="Calibri"/>
              </a:rPr>
              <a:t>Global CartContext with LocalStorage hydration.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14233C"/>
                </a:solidFill>
                <a:latin typeface="Calibri"/>
              </a:rPr>
              <a:t>• Animated Drawer: </a:t>
            </a:r>
            <a:r>
              <a:rPr sz="950">
                <a:solidFill>
                  <a:srgbClr val="1E293B"/>
                </a:solidFill>
                <a:latin typeface="Calibri"/>
              </a:rPr>
              <a:t>Real-time calculation of subtotal, tax, and discounts.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041648"/>
            <a:ext cx="510235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4096512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C00000"/>
                </a:solidFill>
                <a:latin typeface="Calibri"/>
              </a:defRPr>
            </a:pPr>
            <a:r>
              <a:t>C. Order Tracking Timeline</a:t>
            </a:r>
          </a:p>
        </p:txBody>
      </p:sp>
      <p:pic>
        <p:nvPicPr>
          <p:cNvPr id="13" name="Picture 12" descr="07_order_tracking_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370832"/>
            <a:ext cx="2852928" cy="1783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40480" y="4407408"/>
            <a:ext cx="20299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4233C"/>
                </a:solidFill>
                <a:latin typeface="Calibri"/>
              </a:rPr>
              <a:t>• Status Pipeline: </a:t>
            </a:r>
            <a:r>
              <a:rPr sz="950">
                <a:solidFill>
                  <a:srgbClr val="1E293B"/>
                </a:solidFill>
                <a:latin typeface="Calibri"/>
              </a:rPr>
              <a:t>Live tracking: Placed -&gt; Processing -&gt; Shipped.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14233C"/>
                </a:solidFill>
                <a:latin typeface="Calibri"/>
              </a:rPr>
              <a:t>• Embedded Model: </a:t>
            </a:r>
            <a:r>
              <a:rPr sz="950">
                <a:solidFill>
                  <a:srgbClr val="1E293B"/>
                </a:solidFill>
                <a:latin typeface="Calibri"/>
              </a:rPr>
              <a:t>Fast O(1) milestone lookup via timeline schemas.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4041648"/>
            <a:ext cx="510235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4096512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7C3AED"/>
                </a:solidFill>
                <a:latin typeface="Calibri"/>
              </a:defRPr>
            </a:pPr>
            <a:r>
              <a:t>D. Role-Protected Admin Dashboard</a:t>
            </a:r>
          </a:p>
        </p:txBody>
      </p:sp>
      <p:pic>
        <p:nvPicPr>
          <p:cNvPr id="17" name="Picture 16" descr="09_admin_analytics_over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4370832"/>
            <a:ext cx="2852928" cy="1783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35440" y="4407408"/>
            <a:ext cx="20299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14233C"/>
                </a:solidFill>
                <a:latin typeface="Calibri"/>
              </a:rPr>
              <a:t>• RBAC Route Guards: </a:t>
            </a:r>
            <a:r>
              <a:rPr sz="950">
                <a:solidFill>
                  <a:srgbClr val="1E293B"/>
                </a:solidFill>
                <a:latin typeface="Calibri"/>
              </a:rPr>
              <a:t>Administrative access restricted to verified admins.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14233C"/>
                </a:solidFill>
                <a:latin typeface="Calibri"/>
              </a:rPr>
              <a:t>• Business Metrics: </a:t>
            </a:r>
            <a:r>
              <a:rPr sz="950">
                <a:solidFill>
                  <a:srgbClr val="1E293B"/>
                </a:solidFill>
                <a:latin typeface="Calibri"/>
              </a:rPr>
              <a:t>Live revenue charts, order updates, and product CRUD.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6272784"/>
            <a:ext cx="10497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Calibri"/>
              </a:defRPr>
            </a:pPr>
            <a:r>
              <a:t>Capstone Functional Demonstration | Verified under Thiranex Internship Program (Credential ID: THX-AUG1726-220)</a:t>
            </a:r>
          </a:p>
        </p:txBody>
      </p:sp>
    </p:spTree>
    <p:extLst>
      <p:ext uri="{BB962C8B-B14F-4D97-AF65-F5344CB8AC3E}">
        <p14:creationId xmlns:p14="http://schemas.microsoft.com/office/powerpoint/2010/main" val="2845020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7021-9D6C-ECA6-3864-CF19C6AB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 b="1">
                <a:solidFill>
                  <a:srgbClr val="C00000"/>
                </a:solidFill>
                <a:latin typeface="Calibri"/>
              </a:defRPr>
            </a:pPr>
            <a:r>
              <a:t>Results and Analysis / Performance Metrics</a:t>
            </a:r>
          </a:p>
          <a:p>
            <a:pPr>
              <a:spcBef>
                <a:spcPts val="200"/>
              </a:spcBef>
              <a:defRPr sz="1150" b="0">
                <a:solidFill>
                  <a:srgbClr val="64748B"/>
                </a:solidFill>
                <a:latin typeface="Calibri"/>
              </a:defRPr>
            </a:pPr>
            <a:r>
              <a:t>Quantitative Benchmarks, System Latency Audits, and Production Quality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64208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1664208"/>
            <a:ext cx="2423160" cy="45720"/>
          </a:xfrm>
          <a:prstGeom prst="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746504"/>
            <a:ext cx="2167128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2100" b="1">
                <a:solidFill>
                  <a:srgbClr val="10955D"/>
                </a:solidFill>
                <a:latin typeface="Calibri"/>
              </a:defRPr>
            </a:pPr>
            <a:r>
              <a:t>42 ms</a:t>
            </a:r>
          </a:p>
          <a:p>
            <a:pPr>
              <a:spcAft>
                <a:spcPts val="100"/>
              </a:spcAft>
              <a:defRPr sz="1050" b="1">
                <a:solidFill>
                  <a:srgbClr val="1E293B"/>
                </a:solidFill>
                <a:latin typeface="Calibri"/>
              </a:defRPr>
            </a:pPr>
            <a:r>
              <a:t>Avg. API Query Latency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Target: &lt;100ms | 58% Faster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3008" y="1664208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93008" y="1664208"/>
            <a:ext cx="24231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1746504"/>
            <a:ext cx="2167128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2100" b="1">
                <a:solidFill>
                  <a:srgbClr val="2563EB"/>
                </a:solidFill>
                <a:latin typeface="Calibri"/>
              </a:defRPr>
            </a:pPr>
            <a:r>
              <a:t>98 / 100</a:t>
            </a:r>
          </a:p>
          <a:p>
            <a:pPr>
              <a:spcAft>
                <a:spcPts val="100"/>
              </a:spcAft>
              <a:defRPr sz="1050" b="1">
                <a:solidFill>
                  <a:srgbClr val="1E293B"/>
                </a:solidFill>
                <a:latin typeface="Calibri"/>
              </a:defRPr>
            </a:pPr>
            <a:r>
              <a:t>Lighthouse Performance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Grade A+ (Core Web Vitals)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664208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1664208"/>
            <a:ext cx="2423160" cy="4572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1746504"/>
            <a:ext cx="2167128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2100" b="1">
                <a:solidFill>
                  <a:srgbClr val="14233C"/>
                </a:solidFill>
                <a:latin typeface="Calibri"/>
              </a:defRPr>
            </a:pPr>
            <a:r>
              <a:t>450+ req/s</a:t>
            </a:r>
          </a:p>
          <a:p>
            <a:pPr>
              <a:spcAft>
                <a:spcPts val="100"/>
              </a:spcAft>
              <a:defRPr sz="1050" b="1">
                <a:solidFill>
                  <a:srgbClr val="1E293B"/>
                </a:solidFill>
                <a:latin typeface="Calibri"/>
              </a:defRPr>
            </a:pPr>
            <a:r>
              <a:t>Concurrent Throughput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Zero dropped sessions at peak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96528" y="1664208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96528" y="1664208"/>
            <a:ext cx="242316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24544" y="1746504"/>
            <a:ext cx="2167128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2100" b="1">
                <a:solidFill>
                  <a:srgbClr val="7C3AED"/>
                </a:solidFill>
                <a:latin typeface="Calibri"/>
              </a:defRPr>
            </a:pPr>
            <a:r>
              <a:t>100%</a:t>
            </a:r>
          </a:p>
          <a:p>
            <a:pPr>
              <a:spcAft>
                <a:spcPts val="100"/>
              </a:spcAft>
              <a:defRPr sz="1050" b="1">
                <a:solidFill>
                  <a:srgbClr val="1E293B"/>
                </a:solidFill>
                <a:latin typeface="Calibri"/>
              </a:defRPr>
            </a:pPr>
            <a:r>
              <a:t>Test &amp; Security Pass Rate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36/36 Automated Tests Passed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852928"/>
            <a:ext cx="5102352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2926080"/>
            <a:ext cx="4828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233C"/>
                </a:solidFill>
                <a:latin typeface="Calibri"/>
              </a:defRPr>
            </a:pPr>
            <a:r>
              <a:t>A. Latency &amp; Execution Speed Benchmark (ms)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Sub-100ms response achieved via indexed Mongoose schemas (Lower is better)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950976" y="3383280"/>
          <a:ext cx="4882896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236208" y="2852928"/>
            <a:ext cx="5102352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926080"/>
            <a:ext cx="4828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0000"/>
                </a:solidFill>
                <a:latin typeface="Calibri"/>
              </a:defRPr>
            </a:pPr>
            <a:r>
              <a:t>B. System Verification &amp; Quality Assurance Matrix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Empirical test results, security audits, and reliability validation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345936" y="3383280"/>
          <a:ext cx="488289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371600"/>
                <a:gridCol w="1417320"/>
                <a:gridCol w="85953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Evaluation Domain</a:t>
                      </a:r>
                    </a:p>
                  </a:txBody>
                  <a:tcPr anchor="ctr" marL="54864" marR="54864" marT="36576" marB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Target Standard</a:t>
                      </a:r>
                    </a:p>
                  </a:txBody>
                  <a:tcPr anchor="ctr" marL="54864" marR="54864" marT="36576" marB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Observed Result</a:t>
                      </a:r>
                    </a:p>
                  </a:txBody>
                  <a:tcPr anchor="ctr" marL="54864" marR="54864" marT="36576" marB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anchor="ctr" marL="54864" marR="54864" marT="36576" marB="36576">
                    <a:solidFill>
                      <a:srgbClr val="1423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Client Rendering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FCP &lt; 1.8s, Bundle &lt; 300KB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1.1s FCP / 238 KB (Vite)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0955D"/>
                          </a:solidFill>
                          <a:latin typeface="Calibri"/>
                        </a:rPr>
                        <a:t>Optimal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Database Queries</a:t>
                      </a:r>
                    </a:p>
                  </a:txBody>
                  <a:tcPr anchor="ctr"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Indexed Mongoose Lookups</a:t>
                      </a:r>
                    </a:p>
                  </a:txBody>
                  <a:tcPr anchor="ctr"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O(1) Timeline, &lt;45ms Avg</a:t>
                      </a:r>
                    </a:p>
                  </a:txBody>
                  <a:tcPr anchor="ctr"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0955D"/>
                          </a:solidFill>
                          <a:latin typeface="Calibri"/>
                        </a:rPr>
                        <a:t>Optimal</a:t>
                      </a:r>
                    </a:p>
                  </a:txBody>
                  <a:tcPr anchor="ctr" marL="54864" marR="54864" marT="36576" marB="36576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Security &amp; RBAC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OWASP, 0 Privilege Leaks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100% Guarded Admin Routes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0955D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Cart State Sync</a:t>
                      </a:r>
                    </a:p>
                  </a:txBody>
                  <a:tcPr anchor="ctr"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Zero Desynchronization</a:t>
                      </a:r>
                    </a:p>
                  </a:txBody>
                  <a:tcPr anchor="ctr"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100% Persistent Hydration</a:t>
                      </a:r>
                    </a:p>
                  </a:txBody>
                  <a:tcPr anchor="ctr" marL="54864" marR="54864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0955D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 anchor="ctr" marL="54864" marR="54864" marT="36576" marB="36576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Automated Tests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Comprehensive Test Suite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36/36 Passed (100% Rate)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0955D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41248" y="6272784"/>
            <a:ext cx="10497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Calibri"/>
              </a:defRPr>
            </a:pPr>
            <a:r>
              <a:t>Performance Audited on Production Build | Benchmarked under Thiranex Internship Evaluation Standards</a:t>
            </a:r>
          </a:p>
        </p:txBody>
      </p:sp>
    </p:spTree>
    <p:extLst>
      <p:ext uri="{BB962C8B-B14F-4D97-AF65-F5344CB8AC3E}">
        <p14:creationId xmlns:p14="http://schemas.microsoft.com/office/powerpoint/2010/main" val="2467789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8921F-1CC6-9D56-D659-37857A09C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 b="1">
                <a:solidFill>
                  <a:srgbClr val="C00000"/>
                </a:solidFill>
                <a:latin typeface="Calibri"/>
              </a:defRPr>
            </a:pPr>
            <a:r>
              <a:t>Challenges Faced (IF ANY)</a:t>
            </a:r>
          </a:p>
          <a:p>
            <a:pPr>
              <a:spcBef>
                <a:spcPts val="200"/>
              </a:spcBef>
              <a:defRPr sz="1150" b="0">
                <a:solidFill>
                  <a:srgbClr val="64748B"/>
                </a:solidFill>
                <a:latin typeface="Calibri"/>
              </a:defRPr>
            </a:pPr>
            <a:r>
              <a:t>Key Technical Hurdles and Implemented Engineering 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5102352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1783080"/>
            <a:ext cx="5102352" cy="36576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892808"/>
            <a:ext cx="4736592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4233C"/>
                </a:solidFill>
                <a:latin typeface="Calibri"/>
              </a:defRPr>
            </a:pPr>
            <a:r>
              <a:t>1. Cart State Synchronization</a:t>
            </a:r>
          </a:p>
          <a:p>
            <a:pPr>
              <a:spcAft>
                <a:spcPts val="80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Frontend State Persistence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Challenge: </a:t>
            </a:r>
            <a:r>
              <a:rPr sz="1050">
                <a:solidFill>
                  <a:srgbClr val="1E293B"/>
                </a:solidFill>
                <a:latin typeface="Calibri"/>
              </a:rPr>
              <a:t>Shopping cart state lost after browser page reload and tab switches.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Solution: </a:t>
            </a:r>
            <a:r>
              <a:rPr sz="1050">
                <a:solidFill>
                  <a:srgbClr val="1E293B"/>
                </a:solidFill>
                <a:latin typeface="Calibri"/>
              </a:rPr>
              <a:t>Context API with persistent LocalStorage state hydration.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Impact: </a:t>
            </a:r>
            <a:r>
              <a:rPr sz="1050">
                <a:solidFill>
                  <a:srgbClr val="1E293B"/>
                </a:solidFill>
                <a:latin typeface="Calibri"/>
              </a:rPr>
              <a:t>Seamless zero-reload cart retention with optimistic UI updates.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783080"/>
            <a:ext cx="5102352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6208" y="1783080"/>
            <a:ext cx="5102352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892808"/>
            <a:ext cx="4736592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C00000"/>
                </a:solidFill>
                <a:latin typeface="Calibri"/>
              </a:defRPr>
            </a:pPr>
            <a:r>
              <a:t>2. Role-Based Access Control</a:t>
            </a:r>
          </a:p>
          <a:p>
            <a:pPr>
              <a:spcAft>
                <a:spcPts val="80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Backend Route Security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Challenge: </a:t>
            </a:r>
            <a:r>
              <a:rPr sz="1050">
                <a:solidFill>
                  <a:srgbClr val="1E293B"/>
                </a:solidFill>
                <a:latin typeface="Calibri"/>
              </a:rPr>
              <a:t>Administrative product CRUD and analytics exposed to public routes.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Solution: </a:t>
            </a:r>
            <a:r>
              <a:rPr sz="1050">
                <a:solidFill>
                  <a:srgbClr val="1E293B"/>
                </a:solidFill>
                <a:latin typeface="Calibri"/>
              </a:rPr>
              <a:t>JWT authentication middleware verifying role claims ('admin' vs 'user').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Impact: </a:t>
            </a:r>
            <a:r>
              <a:rPr sz="1050">
                <a:solidFill>
                  <a:srgbClr val="1E293B"/>
                </a:solidFill>
                <a:latin typeface="Calibri"/>
              </a:rPr>
              <a:t>100% guarded admin endpoints with zero privilege escalation.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4041648"/>
            <a:ext cx="5102352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4041648"/>
            <a:ext cx="51023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151376"/>
            <a:ext cx="4736592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  <a:latin typeface="Calibri"/>
              </a:defRPr>
            </a:pPr>
            <a:r>
              <a:t>3. Order Lifecycle Tracking</a:t>
            </a:r>
          </a:p>
          <a:p>
            <a:pPr>
              <a:spcAft>
                <a:spcPts val="80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Mongoose Database Modeling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Challenge: </a:t>
            </a:r>
            <a:r>
              <a:rPr sz="1050">
                <a:solidFill>
                  <a:srgbClr val="1E293B"/>
                </a:solidFill>
                <a:latin typeface="Calibri"/>
              </a:rPr>
              <a:t>Tracking multi-stage fulfillment without heavy relational database joins.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Solution: </a:t>
            </a:r>
            <a:r>
              <a:rPr sz="1050">
                <a:solidFill>
                  <a:srgbClr val="1E293B"/>
                </a:solidFill>
                <a:latin typeface="Calibri"/>
              </a:rPr>
              <a:t>Embedded timelineStepSchema sub-documents directly within Order model.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Impact: </a:t>
            </a:r>
            <a:r>
              <a:rPr sz="1050">
                <a:solidFill>
                  <a:srgbClr val="1E293B"/>
                </a:solidFill>
                <a:latin typeface="Calibri"/>
              </a:rPr>
              <a:t>O(1) milestone retrieval for real-time buyer order status updates.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4041648"/>
            <a:ext cx="5102352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4041648"/>
            <a:ext cx="5102352" cy="36576"/>
          </a:xfrm>
          <a:prstGeom prst="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4151376"/>
            <a:ext cx="4736592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955D"/>
                </a:solidFill>
                <a:latin typeface="Calibri"/>
              </a:defRPr>
            </a:pPr>
            <a:r>
              <a:t>4. Dynamic Search &amp; Responsive UI</a:t>
            </a:r>
          </a:p>
          <a:p>
            <a:pPr>
              <a:spcAft>
                <a:spcPts val="800"/>
              </a:spcAft>
              <a:defRPr sz="1000" b="1">
                <a:solidFill>
                  <a:srgbClr val="64748B"/>
                </a:solidFill>
                <a:latin typeface="Calibri"/>
              </a:defRPr>
            </a:pPr>
            <a:r>
              <a:t>Catalog &amp; Tailwind Architecture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Challenge: </a:t>
            </a:r>
            <a:r>
              <a:rPr sz="1050">
                <a:solidFill>
                  <a:srgbClr val="1E293B"/>
                </a:solidFill>
                <a:latin typeface="Calibri"/>
              </a:rPr>
              <a:t>Sluggish concurrent keyword and category filtering across mobile viewports.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Solution: </a:t>
            </a:r>
            <a:r>
              <a:rPr sz="1050">
                <a:solidFill>
                  <a:srgbClr val="1E293B"/>
                </a:solidFill>
                <a:latin typeface="Calibri"/>
              </a:rPr>
              <a:t>Indexed MongoDB queries with debounced regex matching &amp; Tailwind flex layouts.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Impact: </a:t>
            </a:r>
            <a:r>
              <a:rPr sz="1050">
                <a:solidFill>
                  <a:srgbClr val="1E293B"/>
                </a:solidFill>
                <a:latin typeface="Calibri"/>
              </a:rPr>
              <a:t>Sub-45ms search response time with fully responsive fluid UI.</a:t>
            </a:r>
          </a:p>
        </p:txBody>
      </p:sp>
    </p:spTree>
    <p:extLst>
      <p:ext uri="{BB962C8B-B14F-4D97-AF65-F5344CB8AC3E}">
        <p14:creationId xmlns:p14="http://schemas.microsoft.com/office/powerpoint/2010/main" val="2597713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A797-B014-8666-B80C-4F03D6B39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 b="1">
                <a:solidFill>
                  <a:srgbClr val="C00000"/>
                </a:solidFill>
                <a:latin typeface="Calibri"/>
              </a:defRPr>
            </a:pPr>
            <a:r>
              <a:t>Key Learnings from internship</a:t>
            </a:r>
          </a:p>
          <a:p>
            <a:pPr>
              <a:spcBef>
                <a:spcPts val="200"/>
              </a:spcBef>
              <a:defRPr sz="1150" b="0">
                <a:solidFill>
                  <a:srgbClr val="64748B"/>
                </a:solidFill>
                <a:latin typeface="Calibri"/>
              </a:defRPr>
            </a:pPr>
            <a:r>
              <a:t>Core Technical Competencies, Engineering Standards, and Professional Growth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329184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1783080"/>
            <a:ext cx="3291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92808"/>
            <a:ext cx="2962656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1. Technical Architecture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MERN Architecture: </a:t>
            </a:r>
            <a:r>
              <a:rPr sz="1000">
                <a:solidFill>
                  <a:srgbClr val="1E293B"/>
                </a:solidFill>
                <a:latin typeface="Calibri"/>
              </a:rPr>
              <a:t>Decoupled React 18 client and Node.js REST API.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REST Controller Design: </a:t>
            </a:r>
            <a:r>
              <a:rPr sz="1000">
                <a:solidFill>
                  <a:srgbClr val="1E293B"/>
                </a:solidFill>
                <a:latin typeface="Calibri"/>
              </a:rPr>
              <a:t>Modular routing, sanitization &amp; status contracts.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MongoDB Data Modeling: </a:t>
            </a:r>
            <a:r>
              <a:rPr sz="1000">
                <a:solidFill>
                  <a:srgbClr val="1E293B"/>
                </a:solidFill>
                <a:latin typeface="Calibri"/>
              </a:rPr>
              <a:t>Mongoose schemas with embedded sub-documents.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1783080"/>
            <a:ext cx="329184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3984" y="1783080"/>
            <a:ext cx="329184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92808"/>
            <a:ext cx="2962656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00000"/>
                </a:solidFill>
                <a:latin typeface="Calibri"/>
              </a:defRPr>
            </a:pPr>
            <a:r>
              <a:t>2. Application Security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JWT Authentication: </a:t>
            </a:r>
            <a:r>
              <a:rPr sz="1000">
                <a:solidFill>
                  <a:srgbClr val="1E293B"/>
                </a:solidFill>
                <a:latin typeface="Calibri"/>
              </a:rPr>
              <a:t>Bearer token generation, verification, and expiry.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Role-Based Access Control: </a:t>
            </a:r>
            <a:r>
              <a:rPr sz="1000">
                <a:solidFill>
                  <a:srgbClr val="1E293B"/>
                </a:solidFill>
                <a:latin typeface="Calibri"/>
              </a:rPr>
              <a:t>Strict route guards separating Admin from User.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Password Protection: </a:t>
            </a:r>
            <a:r>
              <a:rPr sz="1000">
                <a:solidFill>
                  <a:srgbClr val="1E293B"/>
                </a:solidFill>
                <a:latin typeface="Calibri"/>
              </a:rPr>
              <a:t>Industry-standard bcryptjs salted hashing.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83080"/>
            <a:ext cx="329184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783080"/>
            <a:ext cx="3291840" cy="36576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92808"/>
            <a:ext cx="2962656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4233C"/>
                </a:solidFill>
                <a:latin typeface="Calibri"/>
              </a:defRPr>
            </a:pPr>
            <a:r>
              <a:t>3. Frontend State &amp; UX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React Context API: </a:t>
            </a:r>
            <a:r>
              <a:rPr sz="1000">
                <a:solidFill>
                  <a:srgbClr val="1E293B"/>
                </a:solidFill>
                <a:latin typeface="Calibri"/>
              </a:rPr>
              <a:t>Centralized global state for auth and cart persistence.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Modern Tooling: </a:t>
            </a:r>
            <a:r>
              <a:rPr sz="1000">
                <a:solidFill>
                  <a:srgbClr val="1E293B"/>
                </a:solidFill>
                <a:latin typeface="Calibri"/>
              </a:rPr>
              <a:t>Lightning-fast build bundling with Vite.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Tailwind Styling: </a:t>
            </a:r>
            <a:r>
              <a:rPr sz="1000">
                <a:solidFill>
                  <a:srgbClr val="1E293B"/>
                </a:solidFill>
                <a:latin typeface="Calibri"/>
              </a:rPr>
              <a:t>Responsive mobile-first utility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041648"/>
            <a:ext cx="507492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041648"/>
            <a:ext cx="5074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151376"/>
            <a:ext cx="4709160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7C3AED"/>
                </a:solidFill>
                <a:latin typeface="Calibri"/>
              </a:defRPr>
            </a:pPr>
            <a:r>
              <a:t>4. Software Engineering Discipline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End-to-End Debugging: </a:t>
            </a:r>
            <a:r>
              <a:rPr sz="1000">
                <a:solidFill>
                  <a:srgbClr val="1E293B"/>
                </a:solidFill>
                <a:latin typeface="Calibri"/>
              </a:rPr>
              <a:t>Resolving CORS issues, token race conditions, and query leaks.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Version Control Hygiene: </a:t>
            </a:r>
            <a:r>
              <a:rPr sz="1000">
                <a:solidFill>
                  <a:srgbClr val="1E293B"/>
                </a:solidFill>
                <a:latin typeface="Calibri"/>
              </a:rPr>
              <a:t>Atomic Git commits, clean branch management, and code modularity.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API Testing &amp; Contracts: </a:t>
            </a:r>
            <a:r>
              <a:rPr sz="1000">
                <a:solidFill>
                  <a:srgbClr val="1E293B"/>
                </a:solidFill>
                <a:latin typeface="Calibri"/>
              </a:rPr>
              <a:t>Rigorous endpoint validation using Postman collection test suites.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041648"/>
            <a:ext cx="507492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4041648"/>
            <a:ext cx="5074920" cy="36576"/>
          </a:xfrm>
          <a:prstGeom prst="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151376"/>
            <a:ext cx="4709160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955D"/>
                </a:solidFill>
                <a:latin typeface="Calibri"/>
              </a:defRPr>
            </a:pPr>
            <a:r>
              <a:t>5. Professional Practices &amp; Industry Standards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Agile Sprint Velocity: </a:t>
            </a:r>
            <a:r>
              <a:rPr sz="1000">
                <a:solidFill>
                  <a:srgbClr val="1E293B"/>
                </a:solidFill>
                <a:latin typeface="Calibri"/>
              </a:rPr>
              <a:t>Maintained 100% on-track deliverable completion across all 4 sprints.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Verifiable Delivery: </a:t>
            </a:r>
            <a:r>
              <a:rPr sz="1000">
                <a:solidFill>
                  <a:srgbClr val="1E293B"/>
                </a:solidFill>
                <a:latin typeface="Calibri"/>
              </a:rPr>
              <a:t>Authored production deliverables audited under ID: THX-AUG1726-220.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4233C"/>
                </a:solidFill>
                <a:latin typeface="Calibri"/>
              </a:rPr>
              <a:t>• Executive Endorsement: </a:t>
            </a:r>
            <a:r>
              <a:rPr sz="1000">
                <a:solidFill>
                  <a:srgbClr val="1E293B"/>
                </a:solidFill>
                <a:latin typeface="Calibri"/>
              </a:rPr>
              <a:t>Honored with Founder &amp; CEO signed Letter of Recommendation (LOR).</a:t>
            </a:r>
          </a:p>
        </p:txBody>
      </p:sp>
    </p:spTree>
    <p:extLst>
      <p:ext uri="{BB962C8B-B14F-4D97-AF65-F5344CB8AC3E}">
        <p14:creationId xmlns:p14="http://schemas.microsoft.com/office/powerpoint/2010/main" val="2345704498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C00000"/>
                </a:solidFill>
                <a:latin typeface="Calibri"/>
              </a:defRPr>
            </a:pPr>
            <a:r>
              <a:t>Internship Completion Certificate</a:t>
            </a:r>
          </a:p>
          <a:p>
            <a:pPr>
              <a:spcBef>
                <a:spcPts val="200"/>
              </a:spcBef>
              <a:defRPr sz="1150" b="0">
                <a:solidFill>
                  <a:srgbClr val="64748B"/>
                </a:solidFill>
                <a:latin typeface="Calibri"/>
              </a:defRPr>
            </a:pPr>
            <a:r>
              <a:t>Official Credential Verification &amp; Industrial Performance Endorsement | Thiranex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64208"/>
            <a:ext cx="6035040" cy="45354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1664208"/>
            <a:ext cx="6035040" cy="310896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82496"/>
            <a:ext cx="5980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OFFICIAL INTERNSHIP COMPLETION CREDENTIAL • THIRANEX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2011680"/>
            <a:ext cx="5852160" cy="4133087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hiranex_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39112"/>
            <a:ext cx="5797296" cy="40782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664208"/>
            <a:ext cx="4315968" cy="14447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664208"/>
            <a:ext cx="4315968" cy="36576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719072"/>
            <a:ext cx="404164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4233C"/>
                </a:solidFill>
                <a:latin typeface="Calibri"/>
              </a:defRPr>
            </a:pPr>
            <a:r>
              <a:t>1. Credential Authentication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4233C"/>
                </a:solidFill>
                <a:latin typeface="Calibri"/>
              </a:rPr>
              <a:t>• Intern Name: </a:t>
            </a:r>
            <a:r>
              <a:rPr sz="850">
                <a:solidFill>
                  <a:srgbClr val="1E293B"/>
                </a:solidFill>
                <a:latin typeface="Calibri"/>
              </a:rPr>
              <a:t>Devesh Singh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4233C"/>
                </a:solidFill>
                <a:latin typeface="Calibri"/>
              </a:rPr>
              <a:t>• Issuing Company: </a:t>
            </a:r>
            <a:r>
              <a:rPr sz="850">
                <a:solidFill>
                  <a:srgbClr val="1E293B"/>
                </a:solidFill>
                <a:latin typeface="Calibri"/>
              </a:rPr>
              <a:t>Thiranex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4233C"/>
                </a:solidFill>
                <a:latin typeface="Calibri"/>
              </a:rPr>
              <a:t>• Domain Track: </a:t>
            </a:r>
            <a:r>
              <a:rPr sz="850">
                <a:solidFill>
                  <a:srgbClr val="1E293B"/>
                </a:solidFill>
                <a:latin typeface="Calibri"/>
              </a:rPr>
              <a:t>Full Stack Web Development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4233C"/>
                </a:solidFill>
                <a:latin typeface="Calibri"/>
              </a:rPr>
              <a:t>• Internship Tenure: </a:t>
            </a:r>
            <a:r>
              <a:rPr sz="850">
                <a:solidFill>
                  <a:srgbClr val="1E293B"/>
                </a:solidFill>
                <a:latin typeface="Calibri"/>
              </a:rPr>
              <a:t>17 Aug 2026 to 16 Sept 2026 (4 Weeks)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4233C"/>
                </a:solidFill>
                <a:latin typeface="Calibri"/>
              </a:rPr>
              <a:t>• Credential ID: </a:t>
            </a:r>
            <a:r>
              <a:rPr sz="850">
                <a:solidFill>
                  <a:srgbClr val="1E293B"/>
                </a:solidFill>
                <a:latin typeface="Calibri"/>
              </a:rPr>
              <a:t>THX-AUG1726-220 (Verified Certificate)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4233C"/>
                </a:solidFill>
                <a:latin typeface="Calibri"/>
              </a:rPr>
              <a:t>• Authorized Signatory: </a:t>
            </a:r>
            <a:r>
              <a:rPr sz="850">
                <a:solidFill>
                  <a:srgbClr val="1E293B"/>
                </a:solidFill>
                <a:latin typeface="Calibri"/>
              </a:rPr>
              <a:t>Hariharan M, Founder &amp; CEO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3182112"/>
            <a:ext cx="4315968" cy="16642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0" y="3182112"/>
            <a:ext cx="4315968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3236976"/>
            <a:ext cx="4041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2. Evaluated Technical Scope &amp; Architecture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4233C"/>
                </a:solidFill>
                <a:latin typeface="Calibri"/>
              </a:rPr>
              <a:t>• MERN Stack Architecture: </a:t>
            </a:r>
            <a:r>
              <a:rPr sz="850">
                <a:solidFill>
                  <a:srgbClr val="1E293B"/>
                </a:solidFill>
                <a:latin typeface="Calibri"/>
              </a:rPr>
              <a:t>Engineered commerce platform with React 18, Vite, Node.js &amp; MongoDB.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4233C"/>
                </a:solidFill>
                <a:latin typeface="Calibri"/>
              </a:rPr>
              <a:t>• RBAC &amp; Route Security: </a:t>
            </a:r>
            <a:r>
              <a:rPr sz="850">
                <a:solidFill>
                  <a:srgbClr val="1E293B"/>
                </a:solidFill>
                <a:latin typeface="Calibri"/>
              </a:rPr>
              <a:t>Enforced JWT authentication and role middleware on admin endpoints.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4233C"/>
                </a:solidFill>
                <a:latin typeface="Calibri"/>
              </a:rPr>
              <a:t>• State &amp; Data Modeling: </a:t>
            </a:r>
            <a:r>
              <a:rPr sz="850">
                <a:solidFill>
                  <a:srgbClr val="1E293B"/>
                </a:solidFill>
                <a:latin typeface="Calibri"/>
              </a:rPr>
              <a:t>Implemented persistent CartContext hydration &amp; timeline schema tracking.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4233C"/>
                </a:solidFill>
                <a:latin typeface="Calibri"/>
              </a:rPr>
              <a:t>• Production Benchmarking: </a:t>
            </a:r>
            <a:r>
              <a:rPr sz="850">
                <a:solidFill>
                  <a:srgbClr val="1E293B"/>
                </a:solidFill>
                <a:latin typeface="Calibri"/>
              </a:rPr>
              <a:t>Audited sub-45ms API response latency with automated cloud deployment.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4919472"/>
            <a:ext cx="4315968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4919472"/>
            <a:ext cx="4315968" cy="36576"/>
          </a:xfrm>
          <a:prstGeom prst="rect">
            <a:avLst/>
          </a:prstGeom>
          <a:solidFill>
            <a:srgbClr val="109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4974336"/>
            <a:ext cx="40416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0955D"/>
                </a:solidFill>
                <a:latin typeface="Calibri"/>
              </a:defRPr>
            </a:pPr>
            <a:r>
              <a:t>3. Milestone Performance &amp; Industrial Sign-Off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4233C"/>
                </a:solidFill>
                <a:latin typeface="Calibri"/>
              </a:rPr>
              <a:t>• Sprint Velocity: </a:t>
            </a:r>
            <a:r>
              <a:rPr sz="850">
                <a:solidFill>
                  <a:srgbClr val="1E293B"/>
                </a:solidFill>
                <a:latin typeface="Calibri"/>
              </a:rPr>
              <a:t>100% on-time milestone delivery across all 4 evaluation phases.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4233C"/>
                </a:solidFill>
                <a:latin typeface="Calibri"/>
              </a:rPr>
              <a:t>• Verification Verdict: </a:t>
            </a:r>
            <a:r>
              <a:rPr sz="850">
                <a:solidFill>
                  <a:srgbClr val="1E293B"/>
                </a:solidFill>
                <a:latin typeface="Calibri"/>
              </a:rPr>
              <a:t>Full-stack proficiency certified under credential ID: THX-AUG1726-220.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4233C"/>
                </a:solidFill>
                <a:latin typeface="Calibri"/>
              </a:rPr>
              <a:t>• Executive Endorsement: </a:t>
            </a:r>
            <a:r>
              <a:rPr sz="850">
                <a:solidFill>
                  <a:srgbClr val="1E293B"/>
                </a:solidFill>
                <a:latin typeface="Calibri"/>
              </a:rPr>
              <a:t>Awarded official Letter of Recommendation (LOR) signed by Founder &amp; CEO.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6272784"/>
            <a:ext cx="10497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Calibri"/>
              </a:defRPr>
            </a:pPr>
            <a:r>
              <a:t>Official Internship Credential Document • Verified by Thiranex Corporate Evaluation Panel • Credential ID: THX-AUG1726-220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275" y="2861482"/>
            <a:ext cx="9838267" cy="1143000"/>
          </a:xfrm>
        </p:spPr>
        <p:txBody>
          <a:bodyPr/>
          <a:lstStyle/>
          <a:p>
            <a:pPr algn="ctr"/>
            <a:r>
              <a:rPr lang="en-US" sz="7200" dirty="0"/>
              <a:t>Thank You 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023360"/>
            <a:ext cx="94457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C00000"/>
                </a:solidFill>
                <a:latin typeface="Calibri"/>
              </a:defRPr>
            </a:pPr>
            <a:r>
              <a:t>Questions &amp; Technical Discussion</a:t>
            </a:r>
          </a:p>
          <a:p>
            <a:pPr algn="ctr">
              <a:spcAft>
                <a:spcPts val="300"/>
              </a:spcAft>
              <a:defRPr sz="1500" b="1">
                <a:solidFill>
                  <a:srgbClr val="14233C"/>
                </a:solidFill>
                <a:latin typeface="Calibri"/>
              </a:defRPr>
            </a:pPr>
            <a:r>
              <a:t>Devesh Singh | Department Of Information Technology | ABES Engineering College, Ghaziabad</a:t>
            </a:r>
          </a:p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Internship Track: Full Stack Development | Thiranex (THX-AUG1726-220)</a:t>
            </a:r>
          </a:p>
        </p:txBody>
      </p:sp>
    </p:spTree>
    <p:extLst>
      <p:ext uri="{BB962C8B-B14F-4D97-AF65-F5344CB8AC3E}">
        <p14:creationId xmlns:p14="http://schemas.microsoft.com/office/powerpoint/2010/main" val="3772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PresentationTemplate</Template>
  <TotalTime>378</TotalTime>
  <Words>70</Words>
  <Application>Microsoft Office PowerPoint</Application>
  <PresentationFormat>Widescreen</PresentationFormat>
  <Paragraphs>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Project Title</vt:lpstr>
      <vt:lpstr>Problem Statement</vt:lpstr>
      <vt:lpstr>Background/ Existing Approach</vt:lpstr>
      <vt:lpstr>Proposed Approach </vt:lpstr>
      <vt:lpstr>Methodology and Workflow</vt:lpstr>
      <vt:lpstr>Screenshots / Demonstration</vt:lpstr>
      <vt:lpstr>Results and Analysis/ Performance Metrics</vt:lpstr>
      <vt:lpstr>Challenges Faced (IF ANY)</vt:lpstr>
      <vt:lpstr>Key Learnings from internship</vt:lpstr>
      <vt:lpstr>Thank You 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Harikesh Singh</dc:creator>
  <cp:lastModifiedBy>Anamika Goel</cp:lastModifiedBy>
  <cp:revision>27</cp:revision>
  <dcterms:created xsi:type="dcterms:W3CDTF">2019-09-25T05:42:20Z</dcterms:created>
  <dcterms:modified xsi:type="dcterms:W3CDTF">2026-08-24T15:00:35Z</dcterms:modified>
</cp:coreProperties>
</file>