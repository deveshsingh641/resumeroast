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4233C"/>
                </a:solidFill>
              </a:defRPr>
            </a:pPr>
            <a:r>
              <a:t>E-Commerce Core Feature Validation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Module Test &amp; Delivery Pass Rate (%)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Product Catalog
&amp; Search</c:v>
                </c:pt>
                <c:pt idx="1">
                  <c:v>Cart &amp; Order
Pipeline</c:v>
                </c:pt>
                <c:pt idx="2">
                  <c:v>JWT &amp; RBAC
Security</c:v>
                </c:pt>
                <c:pt idx="3">
                  <c:v>Admin Analytics
Dashboard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FE3F-21E9-3895-1B8B-1747F6E1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C308F-25D4-0368-C53C-8E7F10994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0CEA-1C75-022B-AF99-4E2F5327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7A1B5-CBA1-6470-3099-4F1BF6C3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B397-E262-6F8F-DBD4-EB1DCDAF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4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44D0-4E3F-AB8E-7631-DD5E2321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4FB7E-D3FB-EE5E-D6CE-664250F98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901A9-3A0D-AF07-7054-93CF353EC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4444-EDE0-7DC3-4CBC-2BC141AB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2662-FFA6-5933-47B2-08E69B40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8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B5F2-2673-8585-F997-80093264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3CE53-4BBC-7C10-B661-C607F6E66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5B39E-4268-87FB-FA85-81A99FE6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071AF-6600-FB4F-2B8E-FF3B656E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FB2E-066E-74EB-21CB-6868788E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D541-0BB6-3FCE-399A-BD62B6C1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2702-160F-DCD4-10D2-7F3BE7A49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B85A-D98D-569A-DF49-31E61A86A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8164D-939F-8444-0411-359047F5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29863-D022-187D-6E68-D48FEE8D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0056-462F-59B4-C563-17F0EBC0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2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3A8A-FB99-37AE-BF64-BCED97A7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55C36-0A49-60ED-3F5F-839530437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DE600-C6A2-1751-E085-7C1EFCDBF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A0FA6-53FB-EF78-C0F6-889DF87BD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2C96D-AA63-1879-8863-1D160F98D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A5A7F-352D-6987-EE32-9E710B1F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E5F78-6940-B127-A450-D2C1C8EB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F830E-F316-9CCC-B03E-423E940E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663A-A913-AD99-714E-369CD44B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103AF-1C95-E418-013C-CF664BCA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9215B-EDD4-313F-2762-BDAD5A87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0D9FE-B84E-C473-AD3D-15FD5C3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5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93DD4-63F7-9270-F3C3-7AC6807B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F9B20-4218-04A0-7DE3-002D5AD8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6CC41-2827-F13B-BBD6-072DA6DC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1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8F0D-9F0A-880A-0340-7C25680D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632A-CE88-041F-4BA0-D350B5D0A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D7D86-FAEF-BC89-B79A-DC663A228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3D9DF-33D0-40AC-3EDA-BF804354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8FFB8-3216-C426-900E-6C2EC70C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438AB-F743-7819-9B9D-1618BA4A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2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6A31-3B13-4A48-AF98-CF5A6626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22A3C4-A3EE-4931-E994-334100AB3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6BA15-2909-5A12-7894-65652D51A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3BA0-F22F-1820-B414-FC609D47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3CB21-CC5A-4F88-1357-F6FF8911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1E1A-3505-C098-7C21-BBC71358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9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1F11-C2DB-60E2-CCBE-168CB025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F25A-21BC-E100-C232-4B3CCDC65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83181-0365-B685-1458-7211BD43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862AC-C935-3C64-6924-373278DC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F711-5E36-98CB-0F70-2881F5CD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93538E-4FE6-FBA8-4202-C263B052D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B3F4-CD55-0CF7-488B-7F46A722D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03479-14F3-4AB6-B55A-2A506A33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B4BE7-A15B-72F3-0028-947295A2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65CA3-053A-ABC7-4F50-10444E07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19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226BC-E32C-73E8-5CF4-D98953A4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3E07-199F-6BAE-10AF-866897775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05D8-1AF9-4D82-BE7E-D36CB2387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9A389-FE0D-42C1-9EF9-3667F466720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F05B-17A1-9333-4418-5AD2B9E83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2FF9-B837-883E-E3E6-73CF50DB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F6309-656A-4988-B0DF-27D3BEC41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6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192" y="1689280"/>
            <a:ext cx="9087569" cy="1047631"/>
          </a:xfrm>
        </p:spPr>
        <p:txBody>
          <a:bodyPr wrap="square">
            <a:normAutofit/>
          </a:bodyPr>
          <a:lstStyle/>
          <a:p>
            <a:pPr algn="ctr">
              <a:defRPr sz="2600" b="1">
                <a:solidFill>
                  <a:srgbClr val="14233C"/>
                </a:solidFill>
                <a:latin typeface="Calibri"/>
              </a:defRPr>
            </a:pPr>
            <a:r>
              <a:t>Full-Stack E-Commerce Web Application &amp; Transaction Platform</a:t>
            </a:r>
          </a:p>
          <a:p>
            <a:pPr algn="ctr">
              <a:defRPr sz="1600" b="0">
                <a:solidFill>
                  <a:srgbClr val="2563EB"/>
                </a:solidFill>
                <a:latin typeface="Calibri"/>
              </a:defRPr>
            </a:pPr>
            <a:r>
              <a:t>MERN Architecture, Role-Based Access Control &amp; Cloud Deployment at Thiranex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412192" y="181094"/>
            <a:ext cx="10367750" cy="10781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b="1" dirty="0">
                <a:solidFill>
                  <a:srgbClr val="C00000"/>
                </a:solidFill>
              </a:rPr>
              <a:t>ABES Engineering College, Ghaziabad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Department of CE/IT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262"/>
            <a:ext cx="1501254" cy="1887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F05F5E-594F-2860-299D-8F867E17ACBB}"/>
              </a:ext>
            </a:extLst>
          </p:cNvPr>
          <p:cNvSpPr txBox="1"/>
          <p:nvPr/>
        </p:nvSpPr>
        <p:spPr>
          <a:xfrm>
            <a:off x="6003743" y="4655991"/>
            <a:ext cx="6097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4233C"/>
                </a:solidFill>
                <a:latin typeface="Calibri"/>
              </a:rPr>
              <a:t>Student NAME : </a:t>
            </a:r>
            <a:r>
              <a:rPr sz="1300" b="1">
                <a:solidFill>
                  <a:srgbClr val="1E293B"/>
                </a:solidFill>
                <a:latin typeface="Calibri"/>
              </a:rPr>
              <a:t>Devesh Singh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4233C"/>
                </a:solidFill>
                <a:latin typeface="Calibri"/>
              </a:rPr>
              <a:t>Roll no : </a:t>
            </a:r>
            <a:r>
              <a:rPr sz="1100" b="0">
                <a:solidFill>
                  <a:srgbClr val="1E293B"/>
                </a:solidFill>
                <a:latin typeface="Calibri"/>
              </a:rPr>
              <a:t>[University Roll No]</a:t>
            </a:r>
            <a:br/>
            <a:r>
              <a:rPr sz="1100" b="1">
                <a:solidFill>
                  <a:srgbClr val="14233C"/>
                </a:solidFill>
                <a:latin typeface="Calibri"/>
              </a:rPr>
              <a:t>Company Name: </a:t>
            </a:r>
            <a:r>
              <a:rPr sz="1100" b="0">
                <a:solidFill>
                  <a:srgbClr val="1E293B"/>
                </a:solidFill>
                <a:latin typeface="Calibri"/>
              </a:rPr>
              <a:t>Thiranex (www.thiranex.in)</a:t>
            </a:r>
            <a:br/>
            <a:r>
              <a:rPr sz="1100" b="1">
                <a:solidFill>
                  <a:srgbClr val="14233C"/>
                </a:solidFill>
                <a:latin typeface="Calibri"/>
              </a:rPr>
              <a:t>Internship Duration: </a:t>
            </a:r>
            <a:r>
              <a:rPr sz="1100" b="0">
                <a:solidFill>
                  <a:srgbClr val="1E293B"/>
                </a:solidFill>
                <a:latin typeface="Calibri"/>
              </a:rPr>
              <a:t>17 Aug 2026 to 16 Sept 2026 (4 Weeks)</a:t>
            </a:r>
            <a:br/>
            <a:r>
              <a:rPr sz="1100" b="1">
                <a:solidFill>
                  <a:srgbClr val="14233C"/>
                </a:solidFill>
                <a:latin typeface="Calibri"/>
              </a:rPr>
              <a:t>Department / Domain: </a:t>
            </a:r>
            <a:r>
              <a:rPr sz="1100" b="0">
                <a:solidFill>
                  <a:srgbClr val="1E293B"/>
                </a:solidFill>
                <a:latin typeface="Calibri"/>
              </a:rPr>
              <a:t>Department of CE/IT | Full Stack Web Development</a:t>
            </a:r>
            <a:br/>
            <a:r>
              <a:rPr sz="1100" b="1">
                <a:solidFill>
                  <a:srgbClr val="14233C"/>
                </a:solidFill>
                <a:latin typeface="Calibri"/>
              </a:rPr>
              <a:t>Role &amp; Responsibilities: </a:t>
            </a:r>
            <a:r>
              <a:rPr sz="1100" b="0">
                <a:solidFill>
                  <a:srgbClr val="1E293B"/>
                </a:solidFill>
                <a:latin typeface="Calibri"/>
              </a:rPr>
              <a:t>Intern - Full Stack Development
(Full-Stack MERN Architecture, RESTful API Engineering, JWT/RBAC Security, Mongoose Database Modeling, Cloud Deployment)</a:t>
            </a:r>
            <a:br/>
            <a:r>
              <a:rPr sz="1100" b="1">
                <a:solidFill>
                  <a:srgbClr val="14233C"/>
                </a:solidFill>
                <a:latin typeface="Calibri"/>
              </a:rPr>
              <a:t>Verification Credential: </a:t>
            </a:r>
            <a:r>
              <a:rPr sz="1100" b="0">
                <a:solidFill>
                  <a:srgbClr val="1E293B"/>
                </a:solidFill>
                <a:latin typeface="Calibri"/>
              </a:rPr>
              <a:t>THX-AUG1726-220 (Verified Certificate &amp; CEO Endorsed LOR)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14800"/>
            <a:ext cx="4572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87952"/>
            <a:ext cx="4251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2563EB"/>
                </a:solidFill>
                <a:latin typeface="Calibri"/>
              </a:defRPr>
            </a:pPr>
            <a:r>
              <a:t>Flagship Project &amp; System Highlights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Tech Stack: </a:t>
            </a:r>
            <a:r>
              <a:rPr sz="1050">
                <a:solidFill>
                  <a:srgbClr val="1E293B"/>
                </a:solidFill>
                <a:latin typeface="Calibri"/>
              </a:rPr>
              <a:t>MERN (React 18, Vite, Tailwind, Node.js, Express, MongoDB)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Key Architecture: </a:t>
            </a:r>
            <a:r>
              <a:rPr sz="1050">
                <a:solidFill>
                  <a:srgbClr val="1E293B"/>
                </a:solidFill>
                <a:latin typeface="Calibri"/>
              </a:rPr>
              <a:t>Role-Based Access Control (Admin vs. User), JWT, Context API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Open Source Code: </a:t>
            </a:r>
            <a:r>
              <a:rPr sz="1050">
                <a:solidFill>
                  <a:srgbClr val="1E293B"/>
                </a:solidFill>
                <a:latin typeface="Calibri"/>
              </a:rPr>
              <a:t>github.com/deveshsingh641/E-Commerce-Web-Application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14233C"/>
                </a:solidFill>
                <a:latin typeface="Calibri"/>
              </a:rPr>
              <a:t>• Milestone Audit: </a:t>
            </a:r>
            <a:r>
              <a:rPr sz="1050">
                <a:solidFill>
                  <a:srgbClr val="1E293B"/>
                </a:solidFill>
                <a:latin typeface="Calibri"/>
              </a:rPr>
              <a:t>100% Verified Sprint Completion (ID: THX-AUG1726-220)</a:t>
            </a:r>
          </a:p>
        </p:txBody>
      </p:sp>
    </p:spTree>
    <p:extLst>
      <p:ext uri="{BB962C8B-B14F-4D97-AF65-F5344CB8AC3E}">
        <p14:creationId xmlns:p14="http://schemas.microsoft.com/office/powerpoint/2010/main" val="290539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D4F4-6AB1-B55B-DE1A-D8D6086B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Core E-Commerce Challenges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Client-Server State Synchronization: </a:t>
            </a:r>
            <a:r>
              <a:rPr sz="1150" b="0">
                <a:solidFill>
                  <a:srgbClr val="1E293B"/>
                </a:solidFill>
                <a:latin typeface="Calibri"/>
              </a:rPr>
              <a:t>Modern web commerce demands instant shopping cart updates, stock checks, and checkout pipelines without full page reloads.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Transaction &amp; Order Lifecycle: </a:t>
            </a:r>
            <a:r>
              <a:rPr sz="1150" b="0">
                <a:solidFill>
                  <a:srgbClr val="1E293B"/>
                </a:solidFill>
                <a:latin typeface="Calibri"/>
              </a:rPr>
              <a:t>Tracking multi-stage order lifecycles (placed, processing, dispatched, delivered) requires structured transactional data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C00000"/>
                </a:solidFill>
                <a:latin typeface="Calibri"/>
              </a:defRPr>
            </a:pPr>
            <a:r>
              <a:t>2. Limitations of Legacy Solutions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Insecure Route Exposure: </a:t>
            </a:r>
            <a:r>
              <a:rPr sz="1150" b="0">
                <a:solidFill>
                  <a:srgbClr val="1E293B"/>
                </a:solidFill>
                <a:latin typeface="Calibri"/>
              </a:rPr>
              <a:t>Legacy applications lack Role-Based Access Control (RBAC), leaving administrative product/order mutations vulnerable to public manipulation.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Monolithic Code Coupling: </a:t>
            </a:r>
            <a:r>
              <a:rPr sz="1150" b="0">
                <a:solidFill>
                  <a:srgbClr val="1E293B"/>
                </a:solidFill>
                <a:latin typeface="Calibri"/>
              </a:rPr>
              <a:t>Mixing frontend views with backend database queries causes fragile codebases, deployment friction, and high API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233C"/>
                </a:solidFill>
                <a:latin typeface="Calibri"/>
              </a:defRPr>
            </a:pPr>
            <a:r>
              <a:t>3. Stakeholders Affected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End Consumers: </a:t>
            </a:r>
            <a:r>
              <a:rPr sz="1150" b="0">
                <a:solidFill>
                  <a:srgbClr val="1E293B"/>
                </a:solidFill>
                <a:latin typeface="Calibri"/>
              </a:rPr>
              <a:t>Experience cart state loss on refresh, slow search filtering, and lack of transparent order status timelines.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Platform Administrators: </a:t>
            </a:r>
            <a:r>
              <a:rPr sz="1150" b="0">
                <a:solidFill>
                  <a:srgbClr val="1E293B"/>
                </a:solidFill>
                <a:latin typeface="Calibri"/>
              </a:rPr>
              <a:t>Struggle with inventory management, product updates, and sales auditing without dedicated, secure analytical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955D"/>
                </a:solidFill>
                <a:latin typeface="Calibri"/>
              </a:defRPr>
            </a:pPr>
            <a:r>
              <a:t>4. Engineering Objective &amp; Scope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Production MERN Architecture: </a:t>
            </a:r>
            <a:r>
              <a:rPr sz="1150" b="0">
                <a:solidFill>
                  <a:srgbClr val="1E293B"/>
                </a:solidFill>
                <a:latin typeface="Calibri"/>
              </a:rPr>
              <a:t>Engineer a scalable E-Commerce Web Application with React 18, Node.js, Express, and MongoDB under the Thiranex internship track.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Enterprise Security &amp; Performance: </a:t>
            </a:r>
            <a:r>
              <a:rPr sz="1150" b="0">
                <a:solidFill>
                  <a:srgbClr val="1E293B"/>
                </a:solidFill>
                <a:latin typeface="Calibri"/>
              </a:rPr>
              <a:t>Implement JWT authentication, RBAC middleware, persistent Context API cart state, and sub-100ms API query response times.</a:t>
            </a:r>
          </a:p>
        </p:txBody>
      </p:sp>
    </p:spTree>
    <p:extLst>
      <p:ext uri="{BB962C8B-B14F-4D97-AF65-F5344CB8AC3E}">
        <p14:creationId xmlns:p14="http://schemas.microsoft.com/office/powerpoint/2010/main" val="2389413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BA05-7908-7E9D-664F-C6BCFBFB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Background/ Existing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4233C"/>
                </a:solidFill>
                <a:latin typeface="Calibri"/>
              </a:defRPr>
            </a:pPr>
            <a:r>
              <a:t>Traditional / Existing E-Commerce Architectures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Server-Side Monolithic Rendering: </a:t>
            </a:r>
            <a:r>
              <a:rPr sz="1150">
                <a:solidFill>
                  <a:srgbClr val="1E293B"/>
                </a:solidFill>
                <a:latin typeface="Calibri"/>
              </a:rPr>
              <a:t>Tightly couples HTML views with database queries; every catalog filter or cart change requires full-page reloading.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Session-Based State Volatility: </a:t>
            </a:r>
            <a:r>
              <a:rPr sz="1150">
                <a:solidFill>
                  <a:srgbClr val="1E293B"/>
                </a:solidFill>
                <a:latin typeface="Calibri"/>
              </a:rPr>
              <a:t>Cart items frequently vanish upon session timeout or browser restarts due to lack of client-side persistent storage.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Flat Authorization Model: </a:t>
            </a:r>
            <a:r>
              <a:rPr sz="1150">
                <a:solidFill>
                  <a:srgbClr val="1E293B"/>
                </a:solidFill>
                <a:latin typeface="Calibri"/>
              </a:rPr>
              <a:t>Single-tier authentication fails to isolate admin operations (inventory CRUD, sales analytics) from standard user shopping routes.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Unindexed Database Queries: </a:t>
            </a:r>
            <a:r>
              <a:rPr sz="1150">
                <a:solidFill>
                  <a:srgbClr val="1E293B"/>
                </a:solidFill>
                <a:latin typeface="Calibri"/>
              </a:rPr>
              <a:t>Direct table scans across unstructured schemas cause severe performance bottlenecks as product catalogs expand.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Manual Local Deployments: </a:t>
            </a:r>
            <a:r>
              <a:rPr sz="1150">
                <a:solidFill>
                  <a:srgbClr val="1E293B"/>
                </a:solidFill>
                <a:latin typeface="Calibri"/>
              </a:rPr>
              <a:t>Deployment via manual FTP or local server hosting without modern containerized or cloud CI/CD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C00000"/>
                </a:solidFill>
                <a:latin typeface="Calibri"/>
              </a:defRPr>
            </a:pPr>
            <a:r>
              <a:t>Operational Gaps &amp; Thiranex Project Requirements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High Latency &amp; High Server Load: </a:t>
            </a:r>
            <a:r>
              <a:rPr sz="1150">
                <a:solidFill>
                  <a:srgbClr val="1E293B"/>
                </a:solidFill>
                <a:latin typeface="Calibri"/>
              </a:rPr>
              <a:t>Repeated server document rendering wastes bandwidth and slows mobile client responsiveness.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Data Vulnerability &amp; Security Risks: </a:t>
            </a:r>
            <a:r>
              <a:rPr sz="1150">
                <a:solidFill>
                  <a:srgbClr val="1E293B"/>
                </a:solidFill>
                <a:latin typeface="Calibri"/>
              </a:rPr>
              <a:t>Exposing administrative endpoints without role middleware creates severe vulnerability to unauthorized data tampering.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Poor User Retention: </a:t>
            </a:r>
            <a:r>
              <a:rPr sz="1150">
                <a:solidFill>
                  <a:srgbClr val="1E293B"/>
                </a:solidFill>
                <a:latin typeface="Calibri"/>
              </a:rPr>
              <a:t>Lack of real-time search filtering, dynamic cart drawers, and order tracking drives high bounce rates.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Thiranex Industrial Sprint Mandate: </a:t>
            </a:r>
            <a:r>
              <a:rPr sz="1150">
                <a:solidFill>
                  <a:srgbClr val="1E293B"/>
                </a:solidFill>
                <a:latin typeface="Calibri"/>
              </a:rPr>
              <a:t>Demanded engineering a production-grade full-stack e-commerce web application following strict sprint milestones.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Strict Production Evaluation: </a:t>
            </a:r>
            <a:r>
              <a:rPr sz="1150">
                <a:solidFill>
                  <a:srgbClr val="1E293B"/>
                </a:solidFill>
                <a:latin typeface="Calibri"/>
              </a:rPr>
              <a:t>Required modular RESTful API design, JWT security, Mongoose schemas, and verified cloud deployment under ID: THX-AUG1726-220.</a:t>
            </a:r>
          </a:p>
        </p:txBody>
      </p:sp>
    </p:spTree>
    <p:extLst>
      <p:ext uri="{BB962C8B-B14F-4D97-AF65-F5344CB8AC3E}">
        <p14:creationId xmlns:p14="http://schemas.microsoft.com/office/powerpoint/2010/main" val="359893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235E-E4D4-00AB-9C27-84D38759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u="sng" dirty="0"/>
              <a:t>Proposed Approach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Tier 1: Frontend Layer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React 18 &amp; Vite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Core Tech: </a:t>
            </a:r>
            <a:r>
              <a:rPr sz="1050">
                <a:solidFill>
                  <a:srgbClr val="1E293B"/>
                </a:solidFill>
                <a:latin typeface="Calibri"/>
              </a:rPr>
              <a:t>React 18, Vite, Tailwind CSS, Axios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Context State: </a:t>
            </a:r>
            <a:r>
              <a:rPr sz="1050">
                <a:solidFill>
                  <a:srgbClr val="1E293B"/>
                </a:solidFill>
                <a:latin typeface="Calibri"/>
              </a:rPr>
              <a:t>AuthContext &amp; CartContext managing global client state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UI Pages: </a:t>
            </a:r>
            <a:r>
              <a:rPr sz="1050">
                <a:solidFill>
                  <a:srgbClr val="1E293B"/>
                </a:solidFill>
                <a:latin typeface="Calibri"/>
              </a:rPr>
              <a:t>Catalog, Product Detail, Cart Drawer, Checkout, Orders, Admin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Reactive UX: </a:t>
            </a:r>
            <a:r>
              <a:rPr sz="1050">
                <a:solidFill>
                  <a:srgbClr val="1E293B"/>
                </a:solidFill>
                <a:latin typeface="Calibri"/>
              </a:rPr>
              <a:t>Instant multi-attribute search filtering &amp; animated cart drawer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3016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Calibri"/>
              </a:defRPr>
            </a:pPr>
            <a:r>
              <a:t>Tier 2: Business Logic Layer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Express.js RESTful API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API Stack: </a:t>
            </a:r>
            <a:r>
              <a:rPr sz="1050">
                <a:solidFill>
                  <a:srgbClr val="1E293B"/>
                </a:solidFill>
                <a:latin typeface="Calibri"/>
              </a:rPr>
              <a:t>Node.js, Express.js RESTful router architecture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Controllers: </a:t>
            </a:r>
            <a:r>
              <a:rPr sz="1050">
                <a:solidFill>
                  <a:srgbClr val="1E293B"/>
                </a:solidFill>
                <a:latin typeface="Calibri"/>
              </a:rPr>
              <a:t>Auth, Products (search/CRUD), Orders, and Stats Analytics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Validation: </a:t>
            </a:r>
            <a:r>
              <a:rPr sz="1050">
                <a:solidFill>
                  <a:srgbClr val="1E293B"/>
                </a:solidFill>
                <a:latin typeface="Calibri"/>
              </a:rPr>
              <a:t>Request parameter sanitization and HTTP status code contracts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Lifecycle: </a:t>
            </a:r>
            <a:r>
              <a:rPr sz="1050">
                <a:solidFill>
                  <a:srgbClr val="1E293B"/>
                </a:solidFill>
                <a:latin typeface="Calibri"/>
              </a:rPr>
              <a:t>Timeline step tracking for order fulfillment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0000"/>
                </a:solidFill>
                <a:latin typeface="Calibri"/>
              </a:defRPr>
            </a:pPr>
            <a:r>
              <a:t>Tier 3: Security &amp; RBAC Layer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JWT &amp; Role Middleware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Authentication: </a:t>
            </a:r>
            <a:r>
              <a:rPr sz="1050">
                <a:solidFill>
                  <a:srgbClr val="1E293B"/>
                </a:solidFill>
                <a:latin typeface="Calibri"/>
              </a:rPr>
              <a:t>bcryptjs password hashing &amp; JWT bearer token signing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Role-Based Access: </a:t>
            </a:r>
            <a:r>
              <a:rPr sz="1050">
                <a:solidFill>
                  <a:srgbClr val="1E293B"/>
                </a:solidFill>
                <a:latin typeface="Calibri"/>
              </a:rPr>
              <a:t>Strict role separation: Admin (admin@demo.com) vs. User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Route Middleware: </a:t>
            </a:r>
            <a:r>
              <a:rPr sz="1050">
                <a:solidFill>
                  <a:srgbClr val="1E293B"/>
                </a:solidFill>
                <a:latin typeface="Calibri"/>
              </a:rPr>
              <a:t>Protected route interceptors guarding Admin CRUD &amp; Stats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Data Privacy: </a:t>
            </a:r>
            <a:r>
              <a:rPr sz="1050">
                <a:solidFill>
                  <a:srgbClr val="1E293B"/>
                </a:solidFill>
                <a:latin typeface="Calibri"/>
              </a:rPr>
              <a:t>Secure token handling preventing session tampering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96528" y="1783080"/>
            <a:ext cx="24231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892808"/>
            <a:ext cx="2148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955D"/>
                </a:solidFill>
                <a:latin typeface="Calibri"/>
              </a:defRPr>
            </a:pPr>
            <a:r>
              <a:t>Tier 4: Persistence &amp; Cloud</a:t>
            </a:r>
          </a:p>
          <a:p>
            <a:pPr>
              <a:spcAft>
                <a:spcPts val="7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MongoDB &amp; Deployment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Database ODM: </a:t>
            </a:r>
            <a:r>
              <a:rPr sz="1050">
                <a:solidFill>
                  <a:srgbClr val="1E293B"/>
                </a:solidFill>
                <a:latin typeface="Calibri"/>
              </a:rPr>
              <a:t>MongoDB with structured Mongoose Schemas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Normalized Models: </a:t>
            </a:r>
            <a:r>
              <a:rPr sz="1050">
                <a:solidFill>
                  <a:srgbClr val="1E293B"/>
                </a:solidFill>
                <a:latin typeface="Calibri"/>
              </a:rPr>
              <a:t>UserSchema, ProductSchema (with reviews), OrderSchema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Data Integrity: </a:t>
            </a:r>
            <a:r>
              <a:rPr sz="1050">
                <a:solidFill>
                  <a:srgbClr val="1E293B"/>
                </a:solidFill>
                <a:latin typeface="Calibri"/>
              </a:rPr>
              <a:t>Relational references with populate() for Users &amp; Products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Production Hosting: </a:t>
            </a:r>
            <a:r>
              <a:rPr sz="1050">
                <a:solidFill>
                  <a:srgbClr val="1E293B"/>
                </a:solidFill>
                <a:latin typeface="Calibri"/>
              </a:rPr>
              <a:t>Automated cloud deployment with environment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029200"/>
            <a:ext cx="103784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Key Architectural Improvements Over Traditional Web Stores:</a:t>
            </a:r>
          </a:p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Decoupled MERN Architecture: Eliminates full-page reloads via React 18 Context API and asynchronous REST calls.</a:t>
            </a:r>
            <a:br/>
            <a:r>
              <a:t>• Role-Based Access Control (RBAC): Hardens administrative inventory and analytics endpoints against unauthorized access.</a:t>
            </a:r>
            <a:br/>
            <a:r>
              <a:t>• Multi-Stage Order Lifecycle: Implements dynamic timeline tracking (timelineStepSchema) for real-time customer visibility.</a:t>
            </a:r>
          </a:p>
        </p:txBody>
      </p:sp>
    </p:spTree>
    <p:extLst>
      <p:ext uri="{BB962C8B-B14F-4D97-AF65-F5344CB8AC3E}">
        <p14:creationId xmlns:p14="http://schemas.microsoft.com/office/powerpoint/2010/main" val="7977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EF09-388A-2D26-5D86-C905C3F1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Methodology and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Phase 1: Schemas &amp; DB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Week 1 Deliverable</a:t>
            </a:r>
          </a:p>
          <a:p>
            <a:pPr>
              <a:spcAft>
                <a:spcPts val="700"/>
              </a:spcAft>
              <a:defRPr sz="1150" b="1">
                <a:solidFill>
                  <a:srgbClr val="1E293B"/>
                </a:solidFill>
                <a:latin typeface="Calibri"/>
              </a:defRPr>
            </a:pPr>
            <a:r>
              <a:t>Mongoose Modeling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User Schema: </a:t>
            </a:r>
            <a:r>
              <a:rPr sz="950">
                <a:solidFill>
                  <a:srgbClr val="1E293B"/>
                </a:solidFill>
                <a:latin typeface="Calibri"/>
              </a:rPr>
              <a:t>Auth fields, bcrypt hashing, role enum ('user', 'admin').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Product Schema: </a:t>
            </a:r>
            <a:r>
              <a:rPr sz="950">
                <a:solidFill>
                  <a:srgbClr val="1E293B"/>
                </a:solidFill>
                <a:latin typeface="Calibri"/>
              </a:rPr>
              <a:t>Attributes, slug, categories, nested reviewSchema.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Order Schema: </a:t>
            </a:r>
            <a:r>
              <a:rPr sz="950">
                <a:solidFill>
                  <a:srgbClr val="1E293B"/>
                </a:solidFill>
                <a:latin typeface="Calibri"/>
              </a:rPr>
              <a:t>orderItems array, shipping, timelineStepSchema.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950">
                <a:solidFill>
                  <a:srgbClr val="1E293B"/>
                </a:solidFill>
                <a:latin typeface="Calibri"/>
              </a:rPr>
              <a:t>Normalized MongoDB schema design with data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4436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5409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Calibri"/>
              </a:defRPr>
            </a:pPr>
            <a:r>
              <a:t>Phase 2: API Services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Week 2 Deliverable</a:t>
            </a:r>
          </a:p>
          <a:p>
            <a:pPr>
              <a:spcAft>
                <a:spcPts val="700"/>
              </a:spcAft>
              <a:defRPr sz="1150" b="1">
                <a:solidFill>
                  <a:srgbClr val="1E293B"/>
                </a:solidFill>
                <a:latin typeface="Calibri"/>
              </a:defRPr>
            </a:pPr>
            <a:r>
              <a:t>REST Controller Layer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Auth Routes: </a:t>
            </a:r>
            <a:r>
              <a:rPr sz="950">
                <a:solidFill>
                  <a:srgbClr val="1E293B"/>
                </a:solidFill>
                <a:latin typeface="Calibri"/>
              </a:rPr>
              <a:t>JWT login, registration, and profile endpoints.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Product CRUD: </a:t>
            </a:r>
            <a:r>
              <a:rPr sz="950">
                <a:solidFill>
                  <a:srgbClr val="1E293B"/>
                </a:solidFill>
                <a:latin typeface="Calibri"/>
              </a:rPr>
              <a:t>Public catalog search &amp; Admin-only product mutation.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Order Routes: </a:t>
            </a:r>
            <a:r>
              <a:rPr sz="950">
                <a:solidFill>
                  <a:srgbClr val="1E293B"/>
                </a:solidFill>
                <a:latin typeface="Calibri"/>
              </a:rPr>
              <a:t>User checkout creation and Admin status update APIs.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950">
                <a:solidFill>
                  <a:srgbClr val="1E293B"/>
                </a:solidFill>
                <a:latin typeface="Calibri"/>
              </a:rPr>
              <a:t>Tested RESTful endpoints with comprehensive Postman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5721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0000"/>
                </a:solidFill>
                <a:latin typeface="Calibri"/>
              </a:defRPr>
            </a:pPr>
            <a:r>
              <a:t>Phase 3: Frontend &amp; State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Week 3 Deliverable</a:t>
            </a:r>
          </a:p>
          <a:p>
            <a:pPr>
              <a:spcAft>
                <a:spcPts val="700"/>
              </a:spcAft>
              <a:defRPr sz="1150" b="1">
                <a:solidFill>
                  <a:srgbClr val="1E293B"/>
                </a:solidFill>
                <a:latin typeface="Calibri"/>
              </a:defRPr>
            </a:pPr>
            <a:r>
              <a:t>React 18 &amp; Context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State Providers: </a:t>
            </a:r>
            <a:r>
              <a:rPr sz="950">
                <a:solidFill>
                  <a:srgbClr val="1E293B"/>
                </a:solidFill>
                <a:latin typeface="Calibri"/>
              </a:rPr>
              <a:t>AuthContext (JWT session) &amp; CartContext (persistence).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UI Components: </a:t>
            </a:r>
            <a:r>
              <a:rPr sz="950">
                <a:solidFill>
                  <a:srgbClr val="1E293B"/>
                </a:solidFill>
                <a:latin typeface="Calibri"/>
              </a:rPr>
              <a:t>Navbar, CartDrawer, CatalogPage, ProductDetail.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Checkout Flow: </a:t>
            </a:r>
            <a:r>
              <a:rPr sz="950">
                <a:solidFill>
                  <a:srgbClr val="1E293B"/>
                </a:solidFill>
                <a:latin typeface="Calibri"/>
              </a:rPr>
              <a:t>Responsive shipping address &amp; order submission views.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950">
                <a:solidFill>
                  <a:srgbClr val="1E293B"/>
                </a:solidFill>
                <a:latin typeface="Calibri"/>
              </a:rPr>
              <a:t>Interactive responsive frontend with zero-reload cart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033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Calibri"/>
              </a:defRPr>
            </a:pPr>
            <a:r>
              <a:t>Phase 4: Admin &amp; Tracking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Week 4 Deliverable</a:t>
            </a:r>
          </a:p>
          <a:p>
            <a:pPr>
              <a:spcAft>
                <a:spcPts val="700"/>
              </a:spcAft>
              <a:defRPr sz="1150" b="1">
                <a:solidFill>
                  <a:srgbClr val="1E293B"/>
                </a:solidFill>
                <a:latin typeface="Calibri"/>
              </a:defRPr>
            </a:pPr>
            <a:r>
              <a:t>Analytics &amp; Orders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Admin Dashboard: </a:t>
            </a:r>
            <a:r>
              <a:rPr sz="950">
                <a:solidFill>
                  <a:srgbClr val="1E293B"/>
                </a:solidFill>
                <a:latin typeface="Calibri"/>
              </a:rPr>
              <a:t>Sales metrics, order lists, and product inventory tables.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Order Timeline: </a:t>
            </a:r>
            <a:r>
              <a:rPr sz="950">
                <a:solidFill>
                  <a:srgbClr val="1E293B"/>
                </a:solidFill>
                <a:latin typeface="Calibri"/>
              </a:rPr>
              <a:t>Dynamic visual timeline steps tracking order delivery.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Security Audit: </a:t>
            </a:r>
            <a:r>
              <a:rPr sz="950">
                <a:solidFill>
                  <a:srgbClr val="1E293B"/>
                </a:solidFill>
                <a:latin typeface="Calibri"/>
              </a:rPr>
              <a:t>Verified RBAC barriers preventing privilege escalation.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950">
                <a:solidFill>
                  <a:srgbClr val="1E293B"/>
                </a:solidFill>
                <a:latin typeface="Calibri"/>
              </a:rPr>
              <a:t>Production-grade multi-role commercial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3728" y="1783080"/>
            <a:ext cx="19659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3456" y="1892808"/>
            <a:ext cx="174650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955D"/>
                </a:solidFill>
                <a:latin typeface="Calibri"/>
              </a:defRPr>
            </a:pPr>
            <a:r>
              <a:t>Phase 5: Audit &amp; LOR</a:t>
            </a:r>
          </a:p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Completion Review</a:t>
            </a:r>
          </a:p>
          <a:p>
            <a:pPr>
              <a:spcAft>
                <a:spcPts val="700"/>
              </a:spcAft>
              <a:defRPr sz="1150" b="1">
                <a:solidFill>
                  <a:srgbClr val="1E293B"/>
                </a:solidFill>
                <a:latin typeface="Calibri"/>
              </a:defRPr>
            </a:pPr>
            <a:r>
              <a:t>Institutional Sign-off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Open Source: </a:t>
            </a:r>
            <a:r>
              <a:rPr sz="950">
                <a:solidFill>
                  <a:srgbClr val="1E293B"/>
                </a:solidFill>
                <a:latin typeface="Calibri"/>
              </a:rPr>
              <a:t>Pushed full codebase to GitHub (deveshsingh641).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Platform Review: </a:t>
            </a:r>
            <a:r>
              <a:rPr sz="950">
                <a:solidFill>
                  <a:srgbClr val="1E293B"/>
                </a:solidFill>
                <a:latin typeface="Calibri"/>
              </a:rPr>
              <a:t>100% verified on Thiranex Quest Log dashboard.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Milestone Unlocked: </a:t>
            </a:r>
            <a:r>
              <a:rPr sz="950">
                <a:solidFill>
                  <a:srgbClr val="1E293B"/>
                </a:solidFill>
                <a:latin typeface="Calibri"/>
              </a:rPr>
              <a:t>CEO &amp; Founder Endorsed Letter of Recommendation.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Outcome: </a:t>
            </a:r>
            <a:r>
              <a:rPr sz="950">
                <a:solidFill>
                  <a:srgbClr val="1E293B"/>
                </a:solidFill>
                <a:latin typeface="Calibri"/>
              </a:rPr>
              <a:t>Full-stack MERN platform certified under ID: THX-AUG1726-220.</a:t>
            </a:r>
          </a:p>
        </p:txBody>
      </p:sp>
    </p:spTree>
    <p:extLst>
      <p:ext uri="{BB962C8B-B14F-4D97-AF65-F5344CB8AC3E}">
        <p14:creationId xmlns:p14="http://schemas.microsoft.com/office/powerpoint/2010/main" val="360213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302B-353E-3B35-7418-BA9D867E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Screenshots /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3154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8470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233C"/>
                </a:solidFill>
                <a:latin typeface="Calibri"/>
              </a:defRPr>
            </a:pPr>
            <a:r>
              <a:t>Official Thiranex Enterprise Audit Portal</a:t>
            </a:r>
          </a:p>
        </p:txBody>
      </p:sp>
      <p:pic>
        <p:nvPicPr>
          <p:cNvPr id="5" name="Picture 4" descr="crop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176272"/>
            <a:ext cx="2496312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60520" y="1783080"/>
            <a:ext cx="70591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84708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A. Verified Intern Credentials &amp; 100% Milestone Progress</a:t>
            </a:r>
          </a:p>
        </p:txBody>
      </p:sp>
      <p:pic>
        <p:nvPicPr>
          <p:cNvPr id="8" name="Picture 7" descr="card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130552"/>
            <a:ext cx="6583680" cy="1234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60520" y="3566160"/>
            <a:ext cx="42062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6210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955D"/>
                </a:solidFill>
                <a:latin typeface="Calibri"/>
              </a:defRPr>
            </a:pPr>
            <a:r>
              <a:t>B. E-Commerce Sprint Deliverable (Task 3 Completed)</a:t>
            </a:r>
          </a:p>
        </p:txBody>
      </p:sp>
      <p:pic>
        <p:nvPicPr>
          <p:cNvPr id="11" name="Picture 10" descr="crop_tasks_row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3931920"/>
            <a:ext cx="3913632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58200" y="3566160"/>
            <a:ext cx="276148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621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Calibri"/>
              </a:defRPr>
            </a:pPr>
            <a:r>
              <a:t>C. Executive Endorsement (LOR)</a:t>
            </a:r>
          </a:p>
        </p:txBody>
      </p:sp>
      <p:pic>
        <p:nvPicPr>
          <p:cNvPr id="14" name="Picture 13" descr="card_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931920"/>
            <a:ext cx="896112" cy="2057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55480" y="3931920"/>
            <a:ext cx="1600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GitHub Repo: </a:t>
            </a:r>
            <a:r>
              <a:rPr sz="900">
                <a:solidFill>
                  <a:srgbClr val="1E293B"/>
                </a:solidFill>
                <a:latin typeface="Calibri"/>
              </a:rPr>
              <a:t>deveshsingh641/E-Commerce-Web-App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Executive LOR: </a:t>
            </a:r>
            <a:r>
              <a:rPr sz="900">
                <a:solidFill>
                  <a:srgbClr val="1E293B"/>
                </a:solidFill>
                <a:latin typeface="Calibri"/>
              </a:rPr>
              <a:t>Signed by Thiranex Founder &amp; CEO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24/7 Verification: </a:t>
            </a:r>
            <a:r>
              <a:rPr sz="900">
                <a:solidFill>
                  <a:srgbClr val="1E293B"/>
                </a:solidFill>
                <a:latin typeface="Calibri"/>
              </a:rPr>
              <a:t>Verifiable at thiranex.in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• Verified ID: </a:t>
            </a:r>
            <a:r>
              <a:rPr sz="900">
                <a:solidFill>
                  <a:srgbClr val="1E293B"/>
                </a:solidFill>
                <a:latin typeface="Calibri"/>
              </a:rPr>
              <a:t>THX-AUG1726-220</a:t>
            </a:r>
          </a:p>
        </p:txBody>
      </p:sp>
    </p:spTree>
    <p:extLst>
      <p:ext uri="{BB962C8B-B14F-4D97-AF65-F5344CB8AC3E}">
        <p14:creationId xmlns:p14="http://schemas.microsoft.com/office/powerpoint/2010/main" val="284502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7021-9D6C-ECA6-3864-CF19C6AB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Results and Analysis/ 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955D"/>
                </a:solidFill>
                <a:latin typeface="Calibri"/>
              </a:defRPr>
            </a:pPr>
            <a:r>
              <a:t>100%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Internship Progress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Audited &amp; Completed On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3016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563EB"/>
                </a:solidFill>
                <a:latin typeface="Calibri"/>
              </a:defRPr>
            </a:pPr>
            <a:r>
              <a:t>5 / 5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Milestones Submitted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100% On-Time Sprint Velocity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33C"/>
                </a:solidFill>
                <a:latin typeface="Calibri"/>
              </a:defRPr>
            </a:pPr>
            <a:r>
              <a:t>&lt; 100ms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API Response Time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Indexed Mongoose Query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96528" y="1783080"/>
            <a:ext cx="242316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856232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7C3AED"/>
                </a:solidFill>
                <a:latin typeface="Calibri"/>
              </a:defRPr>
            </a:pPr>
            <a:r>
              <a:t>THX-AUG1726-220</a:t>
            </a:r>
          </a:p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Verified Credential</a:t>
            </a:r>
          </a:p>
          <a:p>
            <a:pPr>
              <a:defRPr sz="950" b="0">
                <a:solidFill>
                  <a:srgbClr val="64748B"/>
                </a:solidFill>
                <a:latin typeface="Calibri"/>
              </a:defRPr>
            </a:pPr>
            <a:r>
              <a:t>CEO Letter of Rec. Earned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926080"/>
          <a:ext cx="41148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38928" y="2926080"/>
          <a:ext cx="60807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51560"/>
                <a:gridCol w="1234440"/>
                <a:gridCol w="2103120"/>
              </a:tblGrid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Core System Module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Due Date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Sprint Status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Technical Implementation</a:t>
                      </a:r>
                    </a:p>
                  </a:txBody>
                  <a:tcPr anchor="ctr">
                    <a:solidFill>
                      <a:srgbClr val="14233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1. Product Catalog &amp; 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24 Aug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Regex search, categories, rating/reviews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2. Cart &amp; Checkout Pipeline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31 Aug 2026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Context API cart state, order submission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3. E-Commerce Core &amp; 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07 Sept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JWT middleware, admin@demo.com guard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4. Order Tracking &amp; Analytics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14 Sept 2026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0955D"/>
                          </a:solidFill>
                          <a:latin typeface="Calibri"/>
                        </a:rPr>
                        <a:t>Completed On Track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timelineStepSchema, sales statistics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78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921F-1CC6-9D56-D659-37857A09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Challenges Faced (IF ANY)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33C"/>
                </a:solidFill>
                <a:latin typeface="Calibri"/>
              </a:defRPr>
            </a:pPr>
            <a:r>
              <a:t>1. Persistent Cart Synchronization &amp; Context API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Frontend State Management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Preventing cart state loss across page reloads and browser navigation without triggering unnecessary component re-renders.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Built CartContext with persistent local storage hydration, optimistic quantity updates, and synchronized toast notifications.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92808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00000"/>
                </a:solidFill>
                <a:latin typeface="Calibri"/>
              </a:defRPr>
            </a:pPr>
            <a:r>
              <a:t>2. Role-Based Access Control (RBAC) &amp; Route Guards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Backend Security &amp; Middleware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Isolating administrative CRUD endpoints (product creation/deletion, sales analytics) from unauthorized standard customer access.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Developed JWT authentication middleware verifying role claims ('admin' vs 'user') prior to dispatching controller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Calibri"/>
              </a:defRPr>
            </a:pPr>
            <a:r>
              <a:t>3. Order Timeline Tracking &amp; Sub-Document Modeling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Mongoose Database Design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Structuring multi-stage order lifecycles (placed, confirmed, shipped, delivered) with accurate timestamps without slow relational joins.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Implemented embedded timelineStepSchema within Order model, enabling instant O(1) milestone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41648"/>
            <a:ext cx="5120640" cy="20848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51376"/>
            <a:ext cx="4754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955D"/>
                </a:solidFill>
                <a:latin typeface="Calibri"/>
              </a:defRPr>
            </a:pPr>
            <a:r>
              <a:t>4. Dynamic Multi-Parametric Search &amp; Responsive UI</a:t>
            </a:r>
          </a:p>
          <a:p>
            <a:pPr>
              <a:spcAft>
                <a:spcPts val="500"/>
              </a:spcAft>
              <a:defRPr sz="1050" b="1">
                <a:solidFill>
                  <a:srgbClr val="64748B"/>
                </a:solidFill>
                <a:latin typeface="Calibri"/>
              </a:defRPr>
            </a:pPr>
            <a:r>
              <a:t>Catalog &amp; Tailwind Architecture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Technical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Handling concurrent category filtering, keyword searching, and rating calculations smoothly across mobile and desktop viewports.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Engineering Resolution: </a:t>
            </a:r>
            <a:r>
              <a:rPr sz="1050">
                <a:solidFill>
                  <a:srgbClr val="1E293B"/>
                </a:solidFill>
                <a:latin typeface="Calibri"/>
              </a:rPr>
              <a:t>Engineered indexed MongoDB queries with regex matching and applied mobile-first Tailwind CSS flexbox/grid layouts.</a:t>
            </a:r>
          </a:p>
        </p:txBody>
      </p:sp>
    </p:spTree>
    <p:extLst>
      <p:ext uri="{BB962C8B-B14F-4D97-AF65-F5344CB8AC3E}">
        <p14:creationId xmlns:p14="http://schemas.microsoft.com/office/powerpoint/2010/main" val="259771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A797-B014-8666-B80C-4F03D6B3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/>
              <a:t>Key Learnings from internship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12064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2563EB"/>
                </a:solidFill>
                <a:latin typeface="Calibri"/>
              </a:defRPr>
            </a:pPr>
            <a:r>
              <a:t>Technical Competencies &amp; Systems Engineering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MERN Stack Mastery: </a:t>
            </a:r>
            <a:r>
              <a:rPr sz="1150">
                <a:solidFill>
                  <a:srgbClr val="1E293B"/>
                </a:solidFill>
                <a:latin typeface="Calibri"/>
              </a:rPr>
              <a:t>Engineered decoupled client-server architecture with React 18, Vite, Node.js, Express, and MongoDB.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RESTful API Architecture: </a:t>
            </a:r>
            <a:r>
              <a:rPr sz="1150">
                <a:solidFill>
                  <a:srgbClr val="1E293B"/>
                </a:solidFill>
                <a:latin typeface="Calibri"/>
              </a:rPr>
              <a:t>Designed modular route controllers, request body sanitization, and standardized JSON responses.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Mongoose Schema Modeling: </a:t>
            </a:r>
            <a:r>
              <a:rPr sz="1150">
                <a:solidFill>
                  <a:srgbClr val="1E293B"/>
                </a:solidFill>
                <a:latin typeface="Calibri"/>
              </a:rPr>
              <a:t>Implemented normalized data schemas for Users, Products (with embedded reviews), and Orders.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JWT Security &amp; RBAC: </a:t>
            </a:r>
            <a:r>
              <a:rPr sz="1150">
                <a:solidFill>
                  <a:srgbClr val="1E293B"/>
                </a:solidFill>
                <a:latin typeface="Calibri"/>
              </a:rPr>
              <a:t>Enforced role-based access control protecting administrative routes from unauthorized customer mutation.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Frontend State Management: </a:t>
            </a:r>
            <a:r>
              <a:rPr sz="1150">
                <a:solidFill>
                  <a:srgbClr val="1E293B"/>
                </a:solidFill>
                <a:latin typeface="Calibri"/>
              </a:rPr>
              <a:t>Utilized React Context API for persistent cart state and responsive Tailwind CSS layout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5120640" cy="4343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92024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4233C"/>
                </a:solidFill>
                <a:latin typeface="Calibri"/>
              </a:defRPr>
            </a:pPr>
            <a:r>
              <a:t>Professional Practices &amp; Industry Standards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Agile Sprint Velocity: </a:t>
            </a:r>
            <a:r>
              <a:rPr sz="1150">
                <a:solidFill>
                  <a:srgbClr val="1E293B"/>
                </a:solidFill>
                <a:latin typeface="Calibri"/>
              </a:rPr>
              <a:t>Maintained a 100% on-track submission velocity across all milestone deadlines under corporate oversight.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Open-Source Code Hygiene: </a:t>
            </a:r>
            <a:r>
              <a:rPr sz="1150">
                <a:solidFill>
                  <a:srgbClr val="1E293B"/>
                </a:solidFill>
                <a:latin typeface="Calibri"/>
              </a:rPr>
              <a:t>Maintained clean repository architecture, Git commits, and README documentation on GitHub (deveshsingh641).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End-to-End Problem Solving: </a:t>
            </a:r>
            <a:r>
              <a:rPr sz="1150">
                <a:solidFill>
                  <a:srgbClr val="1E293B"/>
                </a:solidFill>
                <a:latin typeface="Calibri"/>
              </a:rPr>
              <a:t>Troubleshot CORS errors, database connection pooling, and optimistic client-side cart synchronization.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Verifiable Accountability: </a:t>
            </a:r>
            <a:r>
              <a:rPr sz="1150">
                <a:solidFill>
                  <a:srgbClr val="1E293B"/>
                </a:solidFill>
                <a:latin typeface="Calibri"/>
              </a:rPr>
              <a:t>Authored production deliverables audited and certified under official credential ID: THX-AUG1726-220.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Executive Endorsement: </a:t>
            </a:r>
            <a:r>
              <a:rPr sz="1150">
                <a:solidFill>
                  <a:srgbClr val="1E293B"/>
                </a:solidFill>
                <a:latin typeface="Calibri"/>
              </a:rPr>
              <a:t>Earned official Letter of Recommendation (LOR) signed by Thiranex Founder &amp; CEO certifying full-stack mastery.</a:t>
            </a:r>
          </a:p>
        </p:txBody>
      </p:sp>
    </p:spTree>
    <p:extLst>
      <p:ext uri="{BB962C8B-B14F-4D97-AF65-F5344CB8AC3E}">
        <p14:creationId xmlns:p14="http://schemas.microsoft.com/office/powerpoint/2010/main" val="234570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75" y="2861482"/>
            <a:ext cx="9838267" cy="1143000"/>
          </a:xfrm>
        </p:spPr>
        <p:txBody>
          <a:bodyPr/>
          <a:lstStyle/>
          <a:p>
            <a:pPr algn="ctr"/>
            <a:r>
              <a:rPr lang="en-US" sz="7200" dirty="0"/>
              <a:t>Thank You 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023360"/>
            <a:ext cx="9445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C00000"/>
                </a:solidFill>
                <a:latin typeface="Calibri"/>
              </a:defRPr>
            </a:pPr>
            <a:r>
              <a:t>Questions &amp; Technical Discussion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4233C"/>
                </a:solidFill>
                <a:latin typeface="Calibri"/>
              </a:defRPr>
            </a:pPr>
            <a:r>
              <a:t>Devesh Singh | Department of CE/IT | ABES Engineering College, Ghaziabad</a:t>
            </a:r>
          </a:p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Internship Track: Full Stack Development | Thiranex (THX-AUG1726-220)</a:t>
            </a:r>
            <a:br/>
            <a:r>
              <a:t>GitHub: https://github.com/deveshsingh641/E-Commerce-Web-Application</a:t>
            </a:r>
          </a:p>
        </p:txBody>
      </p:sp>
    </p:spTree>
    <p:extLst>
      <p:ext uri="{BB962C8B-B14F-4D97-AF65-F5344CB8AC3E}">
        <p14:creationId xmlns:p14="http://schemas.microsoft.com/office/powerpoint/2010/main" val="377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PresentationTemplate</Template>
  <TotalTime>378</TotalTime>
  <Words>70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Project Title</vt:lpstr>
      <vt:lpstr>Problem Statement</vt:lpstr>
      <vt:lpstr>Background/ Existing Approach</vt:lpstr>
      <vt:lpstr>Proposed Approach </vt:lpstr>
      <vt:lpstr>Methodology and Workflow</vt:lpstr>
      <vt:lpstr>Screenshots / Demonstration</vt:lpstr>
      <vt:lpstr>Results and Analysis/ Performance Metrics</vt:lpstr>
      <vt:lpstr>Challenges Faced (IF ANY)</vt:lpstr>
      <vt:lpstr>Key Learnings from internship</vt:lpstr>
      <vt:lpstr>Thank You 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Harikesh Singh</dc:creator>
  <cp:lastModifiedBy>Anamika Goel</cp:lastModifiedBy>
  <cp:revision>27</cp:revision>
  <dcterms:created xsi:type="dcterms:W3CDTF">2019-09-25T05:42:20Z</dcterms:created>
  <dcterms:modified xsi:type="dcterms:W3CDTF">2026-08-24T15:00:35Z</dcterms:modified>
</cp:coreProperties>
</file>